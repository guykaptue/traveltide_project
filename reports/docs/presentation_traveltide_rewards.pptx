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Work Sans Semi-Bold" charset="1" panose="00000000000000000000"/>
      <p:regular r:id="rId15"/>
    </p:embeddedFont>
    <p:embeddedFont>
      <p:font typeface="Work Sans" charset="1" panose="00000000000000000000"/>
      <p:regular r:id="rId16"/>
    </p:embeddedFont>
    <p:embeddedFont>
      <p:font typeface="Work Sans Bold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Folie 1 - Claudia</a:t>
            </a:r>
          </a:p>
          <a:p>
            <a:r>
              <a:rPr lang="en-US"/>
              <a:t>Folie 2 - Claudia</a:t>
            </a:r>
          </a:p>
          <a:p>
            <a:r>
              <a:rPr lang="en-US"/>
              <a:t>Folie 3 - Claudia</a:t>
            </a:r>
          </a:p>
          <a:p>
            <a:r>
              <a:rPr lang="en-US"/>
              <a:t>Folie 4 - Sadiq</a:t>
            </a:r>
          </a:p>
          <a:p>
            <a:r>
              <a:rPr lang="en-US"/>
              <a:t>Folie 5 - Sadiq</a:t>
            </a:r>
          </a:p>
          <a:p>
            <a:r>
              <a:rPr lang="en-US"/>
              <a:t>Folie 6 - Guy</a:t>
            </a:r>
          </a:p>
          <a:p>
            <a:r>
              <a:rPr lang="en-US"/>
              <a:t>Folie 7 - Guy</a:t>
            </a:r>
          </a:p>
          <a:p>
            <a:r>
              <a:rPr lang="en-US"/>
              <a:t>Folie 8 - Matthias</a:t>
            </a:r>
          </a:p>
          <a:p>
            <a:r>
              <a:rPr lang="en-US"/>
              <a:t>Folie 9 - Matthias</a:t>
            </a:r>
          </a:p>
          <a:p>
            <a:r>
              <a:rPr lang="en-US"/>
              <a:t>Folie 10 -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7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2686050"/>
            <a:chOff x="0" y="0"/>
            <a:chExt cx="4987154" cy="790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87156" cy="790100"/>
            </a:xfrm>
            <a:custGeom>
              <a:avLst/>
              <a:gdLst/>
              <a:ahLst/>
              <a:cxnLst/>
              <a:rect r="r" b="b" t="t" l="l"/>
              <a:pathLst>
                <a:path h="790100" w="4987156">
                  <a:moveTo>
                    <a:pt x="464019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10707"/>
                  </a:lnTo>
                  <a:cubicBezTo>
                    <a:pt x="0" y="547218"/>
                    <a:pt x="13458" y="582448"/>
                    <a:pt x="37800" y="609659"/>
                  </a:cubicBezTo>
                  <a:lnTo>
                    <a:pt x="154967" y="740636"/>
                  </a:lnTo>
                  <a:cubicBezTo>
                    <a:pt x="183122" y="772111"/>
                    <a:pt x="223353" y="790101"/>
                    <a:pt x="265584" y="790100"/>
                  </a:cubicBezTo>
                  <a:lnTo>
                    <a:pt x="4838740" y="790100"/>
                  </a:lnTo>
                  <a:cubicBezTo>
                    <a:pt x="4878102" y="790100"/>
                    <a:pt x="4915853" y="774464"/>
                    <a:pt x="4943686" y="746630"/>
                  </a:cubicBezTo>
                  <a:cubicBezTo>
                    <a:pt x="4971519" y="718797"/>
                    <a:pt x="4987156" y="681047"/>
                    <a:pt x="4987156" y="641685"/>
                  </a:cubicBezTo>
                  <a:lnTo>
                    <a:pt x="4987156" y="366141"/>
                  </a:lnTo>
                  <a:cubicBezTo>
                    <a:pt x="4987156" y="329143"/>
                    <a:pt x="4973337" y="293478"/>
                    <a:pt x="4948407" y="266140"/>
                  </a:cubicBezTo>
                  <a:lnTo>
                    <a:pt x="4749864" y="48414"/>
                  </a:lnTo>
                  <a:cubicBezTo>
                    <a:pt x="4721742" y="17574"/>
                    <a:pt x="4681934" y="0"/>
                    <a:pt x="4640197" y="0"/>
                  </a:cubicBezTo>
                  <a:close/>
                </a:path>
              </a:pathLst>
            </a:custGeom>
            <a:solidFill>
              <a:srgbClr val="3772A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734675" y="7834471"/>
            <a:ext cx="6886575" cy="1785779"/>
            <a:chOff x="0" y="0"/>
            <a:chExt cx="1813748" cy="4703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13748" cy="470329"/>
            </a:xfrm>
            <a:custGeom>
              <a:avLst/>
              <a:gdLst/>
              <a:ahLst/>
              <a:cxnLst/>
              <a:rect r="r" b="b" t="t" l="l"/>
              <a:pathLst>
                <a:path h="470329" w="1813748">
                  <a:moveTo>
                    <a:pt x="44968" y="0"/>
                  </a:moveTo>
                  <a:lnTo>
                    <a:pt x="1768780" y="0"/>
                  </a:lnTo>
                  <a:cubicBezTo>
                    <a:pt x="1780706" y="0"/>
                    <a:pt x="1792144" y="4738"/>
                    <a:pt x="1800577" y="13171"/>
                  </a:cubicBezTo>
                  <a:cubicBezTo>
                    <a:pt x="1809011" y="21604"/>
                    <a:pt x="1813748" y="33042"/>
                    <a:pt x="1813748" y="44968"/>
                  </a:cubicBezTo>
                  <a:lnTo>
                    <a:pt x="1813748" y="425360"/>
                  </a:lnTo>
                  <a:cubicBezTo>
                    <a:pt x="1813748" y="437287"/>
                    <a:pt x="1809011" y="448724"/>
                    <a:pt x="1800577" y="457158"/>
                  </a:cubicBezTo>
                  <a:cubicBezTo>
                    <a:pt x="1792144" y="465591"/>
                    <a:pt x="1780706" y="470329"/>
                    <a:pt x="1768780" y="470329"/>
                  </a:cubicBezTo>
                  <a:lnTo>
                    <a:pt x="44968" y="470329"/>
                  </a:lnTo>
                  <a:cubicBezTo>
                    <a:pt x="33042" y="470329"/>
                    <a:pt x="21604" y="465591"/>
                    <a:pt x="13171" y="457158"/>
                  </a:cubicBezTo>
                  <a:cubicBezTo>
                    <a:pt x="4738" y="448724"/>
                    <a:pt x="0" y="437287"/>
                    <a:pt x="0" y="425360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solidFill>
              <a:srgbClr val="145A8A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813748" cy="527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734675" y="3657600"/>
            <a:ext cx="6886575" cy="3872071"/>
            <a:chOff x="0" y="0"/>
            <a:chExt cx="1066911" cy="59988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66911" cy="599885"/>
            </a:xfrm>
            <a:custGeom>
              <a:avLst/>
              <a:gdLst/>
              <a:ahLst/>
              <a:cxnLst/>
              <a:rect r="r" b="b" t="t" l="l"/>
              <a:pathLst>
                <a:path h="599885" w="1066911">
                  <a:moveTo>
                    <a:pt x="44968" y="0"/>
                  </a:moveTo>
                  <a:lnTo>
                    <a:pt x="1021942" y="0"/>
                  </a:lnTo>
                  <a:cubicBezTo>
                    <a:pt x="1033869" y="0"/>
                    <a:pt x="1045307" y="4738"/>
                    <a:pt x="1053740" y="13171"/>
                  </a:cubicBezTo>
                  <a:cubicBezTo>
                    <a:pt x="1062173" y="21604"/>
                    <a:pt x="1066911" y="33042"/>
                    <a:pt x="1066911" y="44968"/>
                  </a:cubicBezTo>
                  <a:lnTo>
                    <a:pt x="1066911" y="554917"/>
                  </a:lnTo>
                  <a:cubicBezTo>
                    <a:pt x="1066911" y="566843"/>
                    <a:pt x="1062173" y="578281"/>
                    <a:pt x="1053740" y="586714"/>
                  </a:cubicBezTo>
                  <a:cubicBezTo>
                    <a:pt x="1045307" y="595147"/>
                    <a:pt x="1033869" y="599885"/>
                    <a:pt x="1021942" y="599885"/>
                  </a:cubicBezTo>
                  <a:lnTo>
                    <a:pt x="44968" y="599885"/>
                  </a:lnTo>
                  <a:cubicBezTo>
                    <a:pt x="33042" y="599885"/>
                    <a:pt x="21604" y="595147"/>
                    <a:pt x="13171" y="586714"/>
                  </a:cubicBezTo>
                  <a:cubicBezTo>
                    <a:pt x="4738" y="578281"/>
                    <a:pt x="0" y="566843"/>
                    <a:pt x="0" y="554917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-202" t="0" r="-202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666750" y="3657600"/>
            <a:ext cx="9763125" cy="5962650"/>
            <a:chOff x="0" y="0"/>
            <a:chExt cx="4083676" cy="249403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54483" y="50038"/>
              <a:ext cx="3974583" cy="2394589"/>
            </a:xfrm>
            <a:custGeom>
              <a:avLst/>
              <a:gdLst/>
              <a:ahLst/>
              <a:cxnLst/>
              <a:rect r="r" b="b" t="t" l="l"/>
              <a:pathLst>
                <a:path h="2394589" w="3974583">
                  <a:moveTo>
                    <a:pt x="3886953" y="2394589"/>
                  </a:moveTo>
                  <a:lnTo>
                    <a:pt x="87757" y="2394589"/>
                  </a:lnTo>
                  <a:cubicBezTo>
                    <a:pt x="39370" y="2394589"/>
                    <a:pt x="0" y="2355346"/>
                    <a:pt x="0" y="2306832"/>
                  </a:cubicBezTo>
                  <a:lnTo>
                    <a:pt x="0" y="87757"/>
                  </a:lnTo>
                  <a:cubicBezTo>
                    <a:pt x="0" y="39370"/>
                    <a:pt x="39243" y="0"/>
                    <a:pt x="87757" y="0"/>
                  </a:cubicBezTo>
                  <a:lnTo>
                    <a:pt x="3886826" y="0"/>
                  </a:lnTo>
                  <a:cubicBezTo>
                    <a:pt x="3935213" y="0"/>
                    <a:pt x="3974583" y="39243"/>
                    <a:pt x="3974583" y="87757"/>
                  </a:cubicBezTo>
                  <a:lnTo>
                    <a:pt x="3974583" y="2306832"/>
                  </a:lnTo>
                  <a:cubicBezTo>
                    <a:pt x="3974583" y="2355219"/>
                    <a:pt x="3935340" y="2394589"/>
                    <a:pt x="3886826" y="2394589"/>
                  </a:cubicBezTo>
                  <a:close/>
                </a:path>
              </a:pathLst>
            </a:custGeom>
            <a:blipFill>
              <a:blip r:embed="rId3"/>
              <a:stretch>
                <a:fillRect l="0" t="-209" r="0" b="-209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83549" cy="2493903"/>
            </a:xfrm>
            <a:custGeom>
              <a:avLst/>
              <a:gdLst/>
              <a:ahLst/>
              <a:cxnLst/>
              <a:rect r="r" b="b" t="t" l="l"/>
              <a:pathLst>
                <a:path h="2493903" w="4083549">
                  <a:moveTo>
                    <a:pt x="0" y="91567"/>
                  </a:moveTo>
                  <a:lnTo>
                    <a:pt x="0" y="2402337"/>
                  </a:lnTo>
                  <a:cubicBezTo>
                    <a:pt x="0" y="2452882"/>
                    <a:pt x="41021" y="2493903"/>
                    <a:pt x="91567" y="2493903"/>
                  </a:cubicBezTo>
                  <a:lnTo>
                    <a:pt x="3991982" y="2493903"/>
                  </a:lnTo>
                  <a:cubicBezTo>
                    <a:pt x="4042528" y="2493903"/>
                    <a:pt x="4083549" y="2452882"/>
                    <a:pt x="4083549" y="2402337"/>
                  </a:cubicBezTo>
                  <a:lnTo>
                    <a:pt x="4083549" y="91567"/>
                  </a:lnTo>
                  <a:cubicBezTo>
                    <a:pt x="4083549" y="41021"/>
                    <a:pt x="4042528" y="0"/>
                    <a:pt x="3991982" y="0"/>
                  </a:cubicBezTo>
                  <a:lnTo>
                    <a:pt x="91567" y="0"/>
                  </a:lnTo>
                  <a:cubicBezTo>
                    <a:pt x="41021" y="0"/>
                    <a:pt x="0" y="41021"/>
                    <a:pt x="0" y="91567"/>
                  </a:cubicBezTo>
                  <a:close/>
                  <a:moveTo>
                    <a:pt x="3241793" y="331724"/>
                  </a:moveTo>
                  <a:lnTo>
                    <a:pt x="3900923" y="331724"/>
                  </a:lnTo>
                  <a:cubicBezTo>
                    <a:pt x="3951469" y="331724"/>
                    <a:pt x="3992490" y="372745"/>
                    <a:pt x="3992490" y="423291"/>
                  </a:cubicBezTo>
                  <a:lnTo>
                    <a:pt x="3992490" y="2311277"/>
                  </a:lnTo>
                  <a:cubicBezTo>
                    <a:pt x="3992490" y="2361823"/>
                    <a:pt x="3951469" y="2402844"/>
                    <a:pt x="3900923" y="2402844"/>
                  </a:cubicBezTo>
                  <a:lnTo>
                    <a:pt x="182753" y="2402844"/>
                  </a:lnTo>
                  <a:cubicBezTo>
                    <a:pt x="132207" y="2402844"/>
                    <a:pt x="91186" y="2361823"/>
                    <a:pt x="91186" y="2311277"/>
                  </a:cubicBezTo>
                  <a:lnTo>
                    <a:pt x="91186" y="182753"/>
                  </a:lnTo>
                  <a:cubicBezTo>
                    <a:pt x="91186" y="132207"/>
                    <a:pt x="132207" y="91186"/>
                    <a:pt x="182753" y="91186"/>
                  </a:cubicBezTo>
                  <a:lnTo>
                    <a:pt x="2944740" y="91186"/>
                  </a:lnTo>
                  <a:cubicBezTo>
                    <a:pt x="2970775" y="91186"/>
                    <a:pt x="2995667" y="102235"/>
                    <a:pt x="3013066" y="121666"/>
                  </a:cubicBezTo>
                  <a:lnTo>
                    <a:pt x="3173721" y="301244"/>
                  </a:lnTo>
                  <a:cubicBezTo>
                    <a:pt x="3191120" y="320675"/>
                    <a:pt x="3215885" y="331724"/>
                    <a:pt x="3242047" y="331724"/>
                  </a:cubicBezTo>
                  <a:lnTo>
                    <a:pt x="3241793" y="331724"/>
                  </a:lnTo>
                  <a:close/>
                </a:path>
              </a:pathLst>
            </a:custGeom>
            <a:solidFill>
              <a:srgbClr val="E4E7EB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5715219" y="1389246"/>
            <a:ext cx="1296431" cy="1006803"/>
          </a:xfrm>
          <a:custGeom>
            <a:avLst/>
            <a:gdLst/>
            <a:ahLst/>
            <a:cxnLst/>
            <a:rect r="r" b="b" t="t" l="l"/>
            <a:pathLst>
              <a:path h="1006803" w="1296431">
                <a:moveTo>
                  <a:pt x="0" y="0"/>
                </a:moveTo>
                <a:lnTo>
                  <a:pt x="1296431" y="0"/>
                </a:lnTo>
                <a:lnTo>
                  <a:pt x="1296431" y="1006803"/>
                </a:lnTo>
                <a:lnTo>
                  <a:pt x="0" y="10068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320434" y="1570221"/>
            <a:ext cx="13424266" cy="1035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00"/>
              </a:lnSpc>
            </a:pPr>
            <a:r>
              <a:rPr lang="en-US" b="true" sz="8000" spc="-440">
                <a:solidFill>
                  <a:srgbClr val="E4E7EB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TravelTide Bonusprogramm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061729" y="7834471"/>
            <a:ext cx="4301706" cy="1873285"/>
            <a:chOff x="0" y="0"/>
            <a:chExt cx="5735608" cy="2497713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28575"/>
              <a:ext cx="5735608" cy="1970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4"/>
                </a:lnSpc>
              </a:pPr>
              <a:r>
                <a:rPr lang="en-US" sz="2303" spc="-126">
                  <a:solidFill>
                    <a:srgbClr val="D1D9E6"/>
                  </a:solidFill>
                  <a:latin typeface="Work Sans"/>
                  <a:ea typeface="Work Sans"/>
                  <a:cs typeface="Work Sans"/>
                  <a:sym typeface="Work Sans"/>
                </a:rPr>
                <a:t>Claudia Tagbo-Fotso</a:t>
              </a:r>
            </a:p>
            <a:p>
              <a:pPr algn="l">
                <a:lnSpc>
                  <a:spcPts val="2994"/>
                </a:lnSpc>
              </a:pPr>
              <a:r>
                <a:rPr lang="en-US" sz="2303" spc="-126">
                  <a:solidFill>
                    <a:srgbClr val="D1D9E6"/>
                  </a:solidFill>
                  <a:latin typeface="Work Sans"/>
                  <a:ea typeface="Work Sans"/>
                  <a:cs typeface="Work Sans"/>
                  <a:sym typeface="Work Sans"/>
                </a:rPr>
                <a:t>Guy Michel Kaptue Tabeu</a:t>
              </a:r>
            </a:p>
            <a:p>
              <a:pPr algn="l">
                <a:lnSpc>
                  <a:spcPts val="2994"/>
                </a:lnSpc>
              </a:pPr>
              <a:r>
                <a:rPr lang="en-US" sz="2303" spc="-126">
                  <a:solidFill>
                    <a:srgbClr val="D1D9E6"/>
                  </a:solidFill>
                  <a:latin typeface="Work Sans"/>
                  <a:ea typeface="Work Sans"/>
                  <a:cs typeface="Work Sans"/>
                  <a:sym typeface="Work Sans"/>
                </a:rPr>
                <a:t>Sadiq Qais</a:t>
              </a:r>
            </a:p>
            <a:p>
              <a:pPr algn="l" marL="0" indent="0" lvl="0">
                <a:lnSpc>
                  <a:spcPts val="2994"/>
                </a:lnSpc>
              </a:pPr>
              <a:r>
                <a:rPr lang="en-US" sz="2303" spc="-126">
                  <a:solidFill>
                    <a:srgbClr val="D1D9E6"/>
                  </a:solidFill>
                  <a:latin typeface="Work Sans"/>
                  <a:ea typeface="Work Sans"/>
                  <a:cs typeface="Work Sans"/>
                  <a:sym typeface="Work Sans"/>
                </a:rPr>
                <a:t>Matthias Diekmann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2001135"/>
              <a:ext cx="5735608" cy="4965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4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-3124123" y="2456465"/>
            <a:ext cx="9424519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199"/>
              </a:lnSpc>
              <a:spcBef>
                <a:spcPct val="0"/>
              </a:spcBef>
            </a:pPr>
            <a:r>
              <a:rPr lang="en-US" sz="3999" spc="-21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Ku</a:t>
            </a:r>
            <a:r>
              <a:rPr lang="en-US" sz="3999" spc="-21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ndensegmentierung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526864"/>
            <a:ext cx="16954500" cy="2677546"/>
            <a:chOff x="0" y="0"/>
            <a:chExt cx="4987154" cy="7875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87156" cy="787598"/>
            </a:xfrm>
            <a:custGeom>
              <a:avLst/>
              <a:gdLst/>
              <a:ahLst/>
              <a:cxnLst/>
              <a:rect r="r" b="b" t="t" l="l"/>
              <a:pathLst>
                <a:path h="787598" w="4987156">
                  <a:moveTo>
                    <a:pt x="464019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08206"/>
                  </a:lnTo>
                  <a:cubicBezTo>
                    <a:pt x="0" y="544716"/>
                    <a:pt x="13458" y="579946"/>
                    <a:pt x="37800" y="607158"/>
                  </a:cubicBezTo>
                  <a:lnTo>
                    <a:pt x="154967" y="738134"/>
                  </a:lnTo>
                  <a:cubicBezTo>
                    <a:pt x="183122" y="769609"/>
                    <a:pt x="223353" y="787599"/>
                    <a:pt x="265584" y="787598"/>
                  </a:cubicBezTo>
                  <a:lnTo>
                    <a:pt x="4838740" y="787598"/>
                  </a:lnTo>
                  <a:cubicBezTo>
                    <a:pt x="4878102" y="787598"/>
                    <a:pt x="4915853" y="771962"/>
                    <a:pt x="4943686" y="744129"/>
                  </a:cubicBezTo>
                  <a:cubicBezTo>
                    <a:pt x="4971519" y="716296"/>
                    <a:pt x="4987156" y="678546"/>
                    <a:pt x="4987156" y="639183"/>
                  </a:cubicBezTo>
                  <a:lnTo>
                    <a:pt x="4987156" y="366141"/>
                  </a:lnTo>
                  <a:cubicBezTo>
                    <a:pt x="4987156" y="329143"/>
                    <a:pt x="4973337" y="293478"/>
                    <a:pt x="4948407" y="266140"/>
                  </a:cubicBezTo>
                  <a:lnTo>
                    <a:pt x="4749864" y="48414"/>
                  </a:lnTo>
                  <a:cubicBezTo>
                    <a:pt x="4721742" y="17574"/>
                    <a:pt x="4681934" y="0"/>
                    <a:pt x="4640197" y="0"/>
                  </a:cubicBezTo>
                  <a:close/>
                </a:path>
              </a:pathLst>
            </a:custGeom>
            <a:solidFill>
              <a:srgbClr val="3772A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3750604"/>
            <a:ext cx="16954500" cy="6172897"/>
            <a:chOff x="0" y="0"/>
            <a:chExt cx="4465383" cy="162578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65383" cy="1625784"/>
            </a:xfrm>
            <a:custGeom>
              <a:avLst/>
              <a:gdLst/>
              <a:ahLst/>
              <a:cxnLst/>
              <a:rect r="r" b="b" t="t" l="l"/>
              <a:pathLst>
                <a:path h="1625784" w="4465383">
                  <a:moveTo>
                    <a:pt x="18265" y="0"/>
                  </a:moveTo>
                  <a:lnTo>
                    <a:pt x="4447118" y="0"/>
                  </a:lnTo>
                  <a:cubicBezTo>
                    <a:pt x="4457205" y="0"/>
                    <a:pt x="4465383" y="8178"/>
                    <a:pt x="4465383" y="18265"/>
                  </a:cubicBezTo>
                  <a:lnTo>
                    <a:pt x="4465383" y="1607519"/>
                  </a:lnTo>
                  <a:cubicBezTo>
                    <a:pt x="4465383" y="1617606"/>
                    <a:pt x="4457205" y="1625784"/>
                    <a:pt x="4447118" y="1625784"/>
                  </a:cubicBezTo>
                  <a:lnTo>
                    <a:pt x="18265" y="1625784"/>
                  </a:lnTo>
                  <a:cubicBezTo>
                    <a:pt x="8178" y="1625784"/>
                    <a:pt x="0" y="1617606"/>
                    <a:pt x="0" y="1607519"/>
                  </a:cubicBezTo>
                  <a:lnTo>
                    <a:pt x="0" y="18265"/>
                  </a:lnTo>
                  <a:cubicBezTo>
                    <a:pt x="0" y="8178"/>
                    <a:pt x="8178" y="0"/>
                    <a:pt x="18265" y="0"/>
                  </a:cubicBezTo>
                  <a:close/>
                </a:path>
              </a:pathLst>
            </a:custGeom>
            <a:solidFill>
              <a:srgbClr val="3772A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4465383" cy="1682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>
            <a:off x="2266950" y="4286186"/>
            <a:ext cx="15192375" cy="0"/>
          </a:xfrm>
          <a:prstGeom prst="line">
            <a:avLst/>
          </a:prstGeom>
          <a:ln cap="flat" w="38100">
            <a:solidFill>
              <a:srgbClr val="E4E7E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7263642" y="4124261"/>
            <a:ext cx="323850" cy="323850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4E7E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442693" y="4124261"/>
            <a:ext cx="323850" cy="323850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4E7EB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943100" y="4124261"/>
            <a:ext cx="323850" cy="323850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4E7EB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2442693" y="736414"/>
            <a:ext cx="3301240" cy="2169701"/>
          </a:xfrm>
          <a:custGeom>
            <a:avLst/>
            <a:gdLst/>
            <a:ahLst/>
            <a:cxnLst/>
            <a:rect r="r" b="b" t="t" l="l"/>
            <a:pathLst>
              <a:path h="2169701" w="3301240">
                <a:moveTo>
                  <a:pt x="0" y="0"/>
                </a:moveTo>
                <a:lnTo>
                  <a:pt x="3301240" y="0"/>
                </a:lnTo>
                <a:lnTo>
                  <a:pt x="3301240" y="2169701"/>
                </a:lnTo>
                <a:lnTo>
                  <a:pt x="0" y="21697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371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943100" y="1452964"/>
            <a:ext cx="14077950" cy="898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49"/>
              </a:lnSpc>
            </a:pPr>
            <a:r>
              <a:rPr lang="en-US" b="true" sz="6999" spc="-384">
                <a:solidFill>
                  <a:srgbClr val="E4E7EB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Problemstellung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943100" y="4892067"/>
            <a:ext cx="2571750" cy="2660904"/>
            <a:chOff x="0" y="0"/>
            <a:chExt cx="3429000" cy="3547872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-9525"/>
              <a:ext cx="3429000" cy="593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10"/>
                </a:lnSpc>
                <a:spcBef>
                  <a:spcPct val="0"/>
                </a:spcBef>
              </a:pPr>
              <a:r>
                <a:rPr lang="en-US" b="true" sz="2925" spc="-160">
                  <a:solidFill>
                    <a:srgbClr val="E4E7EB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TravelTide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023747"/>
              <a:ext cx="3429000" cy="2524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</a:pPr>
              <a:r>
                <a:rPr lang="en-US" b="true" sz="2100" spc="-115">
                  <a:solidFill>
                    <a:srgbClr val="D1D9E6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Enthält ca. 1 Mio. Nutzer:innen u</a:t>
              </a:r>
              <a:r>
                <a:rPr lang="en-US" b="true" sz="2100" spc="-115">
                  <a:solidFill>
                    <a:srgbClr val="D1D9E6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nd mehr als 5 Mio. App-Sessions.</a:t>
              </a:r>
            </a:p>
            <a:p>
              <a:pPr algn="l" marL="0" indent="0" lvl="0">
                <a:lnSpc>
                  <a:spcPts val="2520"/>
                </a:lnSpc>
              </a:pPr>
              <a:r>
                <a:rPr lang="en-US" b="true" sz="2100" spc="-115">
                  <a:solidFill>
                    <a:srgbClr val="D1D9E6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 </a:t>
              </a:r>
            </a:p>
            <a:p>
              <a:pPr algn="l" marL="0" indent="0" lvl="0">
                <a:lnSpc>
                  <a:spcPts val="252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263642" y="5514911"/>
            <a:ext cx="2830696" cy="3289554"/>
            <a:chOff x="0" y="0"/>
            <a:chExt cx="3774261" cy="4386072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-9525"/>
              <a:ext cx="3774261" cy="593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10"/>
                </a:lnSpc>
                <a:spcBef>
                  <a:spcPct val="0"/>
                </a:spcBef>
              </a:pPr>
              <a:r>
                <a:rPr lang="en-US" b="true" sz="2925" spc="-160">
                  <a:solidFill>
                    <a:srgbClr val="E4E7EB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Aufgabe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1023747"/>
              <a:ext cx="3774261" cy="336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</a:pPr>
              <a:r>
                <a:rPr lang="en-US" b="true" sz="2100" spc="-115">
                  <a:solidFill>
                    <a:srgbClr val="D1D9E6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Die</a:t>
              </a:r>
              <a:r>
                <a:rPr lang="en-US" b="true" sz="2100" spc="-115">
                  <a:solidFill>
                    <a:srgbClr val="D1D9E6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 aktiven Nutzer:innen in Segmente unterteilen und ihnen passende Prämien zuordnen (Rabatte, Gratisgepäck, usw.).</a:t>
              </a:r>
            </a:p>
            <a:p>
              <a:pPr algn="l" marL="0" indent="0" lvl="0">
                <a:lnSpc>
                  <a:spcPts val="252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442693" y="6486461"/>
            <a:ext cx="3082174" cy="2660904"/>
            <a:chOff x="0" y="0"/>
            <a:chExt cx="4109566" cy="3547872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-9525"/>
              <a:ext cx="4109566" cy="593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10"/>
                </a:lnSpc>
                <a:spcBef>
                  <a:spcPct val="0"/>
                </a:spcBef>
              </a:pPr>
              <a:r>
                <a:rPr lang="en-US" b="true" sz="2925" spc="-160">
                  <a:solidFill>
                    <a:srgbClr val="E4E7EB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Ziel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1023747"/>
              <a:ext cx="4109566" cy="2524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</a:pPr>
              <a:r>
                <a:rPr lang="en-US" b="true" sz="2100" spc="-115">
                  <a:solidFill>
                    <a:srgbClr val="D1D9E6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Einführung ein</a:t>
              </a:r>
              <a:r>
                <a:rPr lang="en-US" b="true" sz="2100" spc="-115">
                  <a:solidFill>
                    <a:srgbClr val="D1D9E6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es Bonusprogramms zur Steigerung der Kundenbindung und Erhöhung der Erträge. </a:t>
              </a:r>
            </a:p>
            <a:p>
              <a:pPr algn="l" marL="0" indent="0" lvl="0">
                <a:lnSpc>
                  <a:spcPts val="2520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06315" y="4659924"/>
            <a:ext cx="14492467" cy="4160865"/>
            <a:chOff x="0" y="0"/>
            <a:chExt cx="3816946" cy="10958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16946" cy="1095866"/>
            </a:xfrm>
            <a:custGeom>
              <a:avLst/>
              <a:gdLst/>
              <a:ahLst/>
              <a:cxnLst/>
              <a:rect r="r" b="b" t="t" l="l"/>
              <a:pathLst>
                <a:path h="1095866" w="3816946">
                  <a:moveTo>
                    <a:pt x="0" y="0"/>
                  </a:moveTo>
                  <a:lnTo>
                    <a:pt x="3816946" y="0"/>
                  </a:lnTo>
                  <a:lnTo>
                    <a:pt x="3816946" y="1095866"/>
                  </a:lnTo>
                  <a:lnTo>
                    <a:pt x="0" y="1095866"/>
                  </a:lnTo>
                  <a:close/>
                </a:path>
              </a:pathLst>
            </a:custGeom>
            <a:solidFill>
              <a:srgbClr val="A8A9A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3816946" cy="11053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23777" y="6444802"/>
            <a:ext cx="565077" cy="591110"/>
            <a:chOff x="0" y="0"/>
            <a:chExt cx="777004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77004" cy="812800"/>
            </a:xfrm>
            <a:custGeom>
              <a:avLst/>
              <a:gdLst/>
              <a:ahLst/>
              <a:cxnLst/>
              <a:rect r="r" b="b" t="t" l="l"/>
              <a:pathLst>
                <a:path h="812800" w="777004">
                  <a:moveTo>
                    <a:pt x="388502" y="0"/>
                  </a:moveTo>
                  <a:cubicBezTo>
                    <a:pt x="173938" y="0"/>
                    <a:pt x="0" y="181951"/>
                    <a:pt x="0" y="406400"/>
                  </a:cubicBezTo>
                  <a:cubicBezTo>
                    <a:pt x="0" y="630849"/>
                    <a:pt x="173938" y="812800"/>
                    <a:pt x="388502" y="812800"/>
                  </a:cubicBezTo>
                  <a:cubicBezTo>
                    <a:pt x="603066" y="812800"/>
                    <a:pt x="777004" y="630849"/>
                    <a:pt x="777004" y="406400"/>
                  </a:cubicBezTo>
                  <a:cubicBezTo>
                    <a:pt x="777004" y="181951"/>
                    <a:pt x="603066" y="0"/>
                    <a:pt x="388502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2844" y="66675"/>
              <a:ext cx="631316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507464" y="4659924"/>
            <a:ext cx="5591319" cy="4160865"/>
            <a:chOff x="0" y="0"/>
            <a:chExt cx="1472611" cy="10958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72611" cy="1095866"/>
            </a:xfrm>
            <a:custGeom>
              <a:avLst/>
              <a:gdLst/>
              <a:ahLst/>
              <a:cxnLst/>
              <a:rect r="r" b="b" t="t" l="l"/>
              <a:pathLst>
                <a:path h="1095866" w="1472611">
                  <a:moveTo>
                    <a:pt x="0" y="0"/>
                  </a:moveTo>
                  <a:lnTo>
                    <a:pt x="1472611" y="0"/>
                  </a:lnTo>
                  <a:lnTo>
                    <a:pt x="1472611" y="1095866"/>
                  </a:lnTo>
                  <a:lnTo>
                    <a:pt x="0" y="1095866"/>
                  </a:lnTo>
                  <a:close/>
                </a:path>
              </a:pathLst>
            </a:custGeom>
            <a:solidFill>
              <a:srgbClr val="60606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472611" cy="11053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24925" y="6444802"/>
            <a:ext cx="565077" cy="591110"/>
            <a:chOff x="0" y="0"/>
            <a:chExt cx="777004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77004" cy="812800"/>
            </a:xfrm>
            <a:custGeom>
              <a:avLst/>
              <a:gdLst/>
              <a:ahLst/>
              <a:cxnLst/>
              <a:rect r="r" b="b" t="t" l="l"/>
              <a:pathLst>
                <a:path h="812800" w="777004">
                  <a:moveTo>
                    <a:pt x="388502" y="0"/>
                  </a:moveTo>
                  <a:cubicBezTo>
                    <a:pt x="173938" y="0"/>
                    <a:pt x="0" y="181951"/>
                    <a:pt x="0" y="406400"/>
                  </a:cubicBezTo>
                  <a:cubicBezTo>
                    <a:pt x="0" y="630849"/>
                    <a:pt x="173938" y="812800"/>
                    <a:pt x="388502" y="812800"/>
                  </a:cubicBezTo>
                  <a:cubicBezTo>
                    <a:pt x="603066" y="812800"/>
                    <a:pt x="777004" y="630849"/>
                    <a:pt x="777004" y="406400"/>
                  </a:cubicBezTo>
                  <a:cubicBezTo>
                    <a:pt x="777004" y="181951"/>
                    <a:pt x="603066" y="0"/>
                    <a:pt x="388502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2844" y="66675"/>
              <a:ext cx="631316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816244" y="6444802"/>
            <a:ext cx="565077" cy="591110"/>
            <a:chOff x="0" y="0"/>
            <a:chExt cx="777004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77004" cy="812800"/>
            </a:xfrm>
            <a:custGeom>
              <a:avLst/>
              <a:gdLst/>
              <a:ahLst/>
              <a:cxnLst/>
              <a:rect r="r" b="b" t="t" l="l"/>
              <a:pathLst>
                <a:path h="812800" w="777004">
                  <a:moveTo>
                    <a:pt x="388502" y="0"/>
                  </a:moveTo>
                  <a:cubicBezTo>
                    <a:pt x="173938" y="0"/>
                    <a:pt x="0" y="181951"/>
                    <a:pt x="0" y="406400"/>
                  </a:cubicBezTo>
                  <a:cubicBezTo>
                    <a:pt x="0" y="630849"/>
                    <a:pt x="173938" y="812800"/>
                    <a:pt x="388502" y="812800"/>
                  </a:cubicBezTo>
                  <a:cubicBezTo>
                    <a:pt x="603066" y="812800"/>
                    <a:pt x="777004" y="630849"/>
                    <a:pt x="777004" y="406400"/>
                  </a:cubicBezTo>
                  <a:cubicBezTo>
                    <a:pt x="777004" y="181951"/>
                    <a:pt x="603066" y="0"/>
                    <a:pt x="388502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2844" y="66675"/>
              <a:ext cx="631316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934050" y="7035912"/>
            <a:ext cx="2164732" cy="1784878"/>
            <a:chOff x="0" y="0"/>
            <a:chExt cx="570135" cy="47009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70135" cy="470091"/>
            </a:xfrm>
            <a:custGeom>
              <a:avLst/>
              <a:gdLst/>
              <a:ahLst/>
              <a:cxnLst/>
              <a:rect r="r" b="b" t="t" l="l"/>
              <a:pathLst>
                <a:path h="470091" w="570135">
                  <a:moveTo>
                    <a:pt x="0" y="0"/>
                  </a:moveTo>
                  <a:lnTo>
                    <a:pt x="570135" y="0"/>
                  </a:lnTo>
                  <a:lnTo>
                    <a:pt x="570135" y="470091"/>
                  </a:lnTo>
                  <a:lnTo>
                    <a:pt x="0" y="470091"/>
                  </a:lnTo>
                  <a:close/>
                </a:path>
              </a:pathLst>
            </a:custGeom>
            <a:solidFill>
              <a:srgbClr val="414141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570135" cy="4796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4402169" y="3926499"/>
            <a:ext cx="2991474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 spc="-115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L</a:t>
            </a:r>
            <a:r>
              <a:rPr lang="en-US" sz="2100" spc="-115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etztes verfügbares Datum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39360" y="4083662"/>
            <a:ext cx="1736207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 spc="-115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4. J</a:t>
            </a:r>
            <a:r>
              <a:rPr lang="en-US" sz="2100" spc="-115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anuar 2023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645961" y="6278114"/>
            <a:ext cx="160787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 spc="-115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≥7</a:t>
            </a:r>
            <a:r>
              <a:rPr lang="en-US" sz="2100" spc="-115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 Sessions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 spc="-115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49211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253837" y="7761663"/>
            <a:ext cx="1607876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2100" spc="-115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5.998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66750" y="675254"/>
            <a:ext cx="16954500" cy="2677546"/>
            <a:chOff x="0" y="0"/>
            <a:chExt cx="4987154" cy="78759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987156" cy="787598"/>
            </a:xfrm>
            <a:custGeom>
              <a:avLst/>
              <a:gdLst/>
              <a:ahLst/>
              <a:cxnLst/>
              <a:rect r="r" b="b" t="t" l="l"/>
              <a:pathLst>
                <a:path h="787598" w="4987156">
                  <a:moveTo>
                    <a:pt x="464019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08206"/>
                  </a:lnTo>
                  <a:cubicBezTo>
                    <a:pt x="0" y="544716"/>
                    <a:pt x="13458" y="579946"/>
                    <a:pt x="37800" y="607158"/>
                  </a:cubicBezTo>
                  <a:lnTo>
                    <a:pt x="154967" y="738134"/>
                  </a:lnTo>
                  <a:cubicBezTo>
                    <a:pt x="183122" y="769609"/>
                    <a:pt x="223353" y="787599"/>
                    <a:pt x="265584" y="787598"/>
                  </a:cubicBezTo>
                  <a:lnTo>
                    <a:pt x="4838740" y="787598"/>
                  </a:lnTo>
                  <a:cubicBezTo>
                    <a:pt x="4878102" y="787598"/>
                    <a:pt x="4915853" y="771962"/>
                    <a:pt x="4943686" y="744129"/>
                  </a:cubicBezTo>
                  <a:cubicBezTo>
                    <a:pt x="4971519" y="716296"/>
                    <a:pt x="4987156" y="678546"/>
                    <a:pt x="4987156" y="639183"/>
                  </a:cubicBezTo>
                  <a:lnTo>
                    <a:pt x="4987156" y="366141"/>
                  </a:lnTo>
                  <a:cubicBezTo>
                    <a:pt x="4987156" y="329143"/>
                    <a:pt x="4973337" y="293478"/>
                    <a:pt x="4948407" y="266140"/>
                  </a:cubicBezTo>
                  <a:lnTo>
                    <a:pt x="4749864" y="48414"/>
                  </a:lnTo>
                  <a:cubicBezTo>
                    <a:pt x="4721742" y="17574"/>
                    <a:pt x="4681934" y="0"/>
                    <a:pt x="4640197" y="0"/>
                  </a:cubicBezTo>
                  <a:close/>
                </a:path>
              </a:pathLst>
            </a:custGeom>
            <a:solidFill>
              <a:srgbClr val="3772A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2105025" y="1641475"/>
            <a:ext cx="14077950" cy="898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49"/>
              </a:lnSpc>
            </a:pPr>
            <a:r>
              <a:rPr lang="en-US" b="true" sz="6999" spc="-384">
                <a:solidFill>
                  <a:srgbClr val="E4E7EB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Aktive Nutzer:innen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934050" y="8906514"/>
            <a:ext cx="2164732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 spc="-115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Keine stornierten Reisen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06315" y="4083662"/>
            <a:ext cx="1430271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 spc="-115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1. April 2021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3657600"/>
            <a:ext cx="8324850" cy="5962650"/>
            <a:chOff x="0" y="0"/>
            <a:chExt cx="2192553" cy="15704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2553" cy="1570410"/>
            </a:xfrm>
            <a:custGeom>
              <a:avLst/>
              <a:gdLst/>
              <a:ahLst/>
              <a:cxnLst/>
              <a:rect r="r" b="b" t="t" l="l"/>
              <a:pathLst>
                <a:path h="1570410" w="2192553">
                  <a:moveTo>
                    <a:pt x="37199" y="0"/>
                  </a:moveTo>
                  <a:lnTo>
                    <a:pt x="2155354" y="0"/>
                  </a:lnTo>
                  <a:cubicBezTo>
                    <a:pt x="2165220" y="0"/>
                    <a:pt x="2174682" y="3919"/>
                    <a:pt x="2181658" y="10895"/>
                  </a:cubicBezTo>
                  <a:cubicBezTo>
                    <a:pt x="2188634" y="17872"/>
                    <a:pt x="2192553" y="27333"/>
                    <a:pt x="2192553" y="37199"/>
                  </a:cubicBezTo>
                  <a:lnTo>
                    <a:pt x="2192553" y="1533211"/>
                  </a:lnTo>
                  <a:cubicBezTo>
                    <a:pt x="2192553" y="1543077"/>
                    <a:pt x="2188634" y="1552538"/>
                    <a:pt x="2181658" y="1559514"/>
                  </a:cubicBezTo>
                  <a:cubicBezTo>
                    <a:pt x="2174682" y="1566491"/>
                    <a:pt x="2165220" y="1570410"/>
                    <a:pt x="2155354" y="1570410"/>
                  </a:cubicBezTo>
                  <a:lnTo>
                    <a:pt x="37199" y="1570410"/>
                  </a:lnTo>
                  <a:cubicBezTo>
                    <a:pt x="27333" y="1570410"/>
                    <a:pt x="17872" y="1566491"/>
                    <a:pt x="10895" y="1559514"/>
                  </a:cubicBezTo>
                  <a:cubicBezTo>
                    <a:pt x="3919" y="1552538"/>
                    <a:pt x="0" y="1543077"/>
                    <a:pt x="0" y="1533211"/>
                  </a:cubicBezTo>
                  <a:lnTo>
                    <a:pt x="0" y="37199"/>
                  </a:lnTo>
                  <a:cubicBezTo>
                    <a:pt x="0" y="27333"/>
                    <a:pt x="3919" y="17872"/>
                    <a:pt x="10895" y="10895"/>
                  </a:cubicBezTo>
                  <a:cubicBezTo>
                    <a:pt x="17872" y="3919"/>
                    <a:pt x="27333" y="0"/>
                    <a:pt x="37199" y="0"/>
                  </a:cubicBezTo>
                  <a:close/>
                </a:path>
              </a:pathLst>
            </a:custGeom>
            <a:solidFill>
              <a:srgbClr val="E4E7E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192553" cy="16275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400" spc="-132">
                  <a:solidFill>
                    <a:srgbClr val="093C25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Geschäftsreisende</a:t>
              </a:r>
            </a:p>
            <a:p>
              <a:pPr algn="ctr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 spc="-132">
                  <a:solidFill>
                    <a:srgbClr val="093C25"/>
                  </a:solidFill>
                  <a:latin typeface="Work Sans"/>
                  <a:ea typeface="Work Sans"/>
                  <a:cs typeface="Work Sans"/>
                  <a:sym typeface="Work Sans"/>
                </a:rPr>
                <a:t>Hohe Ausgaben</a:t>
              </a:r>
            </a:p>
            <a:p>
              <a:pPr algn="ctr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 spc="-132">
                  <a:solidFill>
                    <a:srgbClr val="093C25"/>
                  </a:solidFill>
                  <a:latin typeface="Work Sans"/>
                  <a:ea typeface="Work Sans"/>
                  <a:cs typeface="Work Sans"/>
                  <a:sym typeface="Work Sans"/>
                </a:rPr>
                <a:t>Reiseerfahrung</a:t>
              </a:r>
            </a:p>
            <a:p>
              <a:pPr algn="ctr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 spc="-132">
                  <a:solidFill>
                    <a:srgbClr val="093C25"/>
                  </a:solidFill>
                  <a:latin typeface="Work Sans"/>
                  <a:ea typeface="Work Sans"/>
                  <a:cs typeface="Work Sans"/>
                  <a:sym typeface="Work Sans"/>
                </a:rPr>
                <a:t>Ausgeglichenes Reiseverhalten</a:t>
              </a:r>
            </a:p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3657600"/>
            <a:ext cx="8324850" cy="5962650"/>
            <a:chOff x="0" y="0"/>
            <a:chExt cx="2192553" cy="15704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2553" cy="1570410"/>
            </a:xfrm>
            <a:custGeom>
              <a:avLst/>
              <a:gdLst/>
              <a:ahLst/>
              <a:cxnLst/>
              <a:rect r="r" b="b" t="t" l="l"/>
              <a:pathLst>
                <a:path h="1570410" w="2192553">
                  <a:moveTo>
                    <a:pt x="37199" y="0"/>
                  </a:moveTo>
                  <a:lnTo>
                    <a:pt x="2155354" y="0"/>
                  </a:lnTo>
                  <a:cubicBezTo>
                    <a:pt x="2165220" y="0"/>
                    <a:pt x="2174682" y="3919"/>
                    <a:pt x="2181658" y="10895"/>
                  </a:cubicBezTo>
                  <a:cubicBezTo>
                    <a:pt x="2188634" y="17872"/>
                    <a:pt x="2192553" y="27333"/>
                    <a:pt x="2192553" y="37199"/>
                  </a:cubicBezTo>
                  <a:lnTo>
                    <a:pt x="2192553" y="1533211"/>
                  </a:lnTo>
                  <a:cubicBezTo>
                    <a:pt x="2192553" y="1543077"/>
                    <a:pt x="2188634" y="1552538"/>
                    <a:pt x="2181658" y="1559514"/>
                  </a:cubicBezTo>
                  <a:cubicBezTo>
                    <a:pt x="2174682" y="1566491"/>
                    <a:pt x="2165220" y="1570410"/>
                    <a:pt x="2155354" y="1570410"/>
                  </a:cubicBezTo>
                  <a:lnTo>
                    <a:pt x="37199" y="1570410"/>
                  </a:lnTo>
                  <a:cubicBezTo>
                    <a:pt x="27333" y="1570410"/>
                    <a:pt x="17872" y="1566491"/>
                    <a:pt x="10895" y="1559514"/>
                  </a:cubicBezTo>
                  <a:cubicBezTo>
                    <a:pt x="3919" y="1552538"/>
                    <a:pt x="0" y="1543077"/>
                    <a:pt x="0" y="1533211"/>
                  </a:cubicBezTo>
                  <a:lnTo>
                    <a:pt x="0" y="37199"/>
                  </a:lnTo>
                  <a:cubicBezTo>
                    <a:pt x="0" y="27333"/>
                    <a:pt x="3919" y="17872"/>
                    <a:pt x="10895" y="10895"/>
                  </a:cubicBezTo>
                  <a:cubicBezTo>
                    <a:pt x="17872" y="3919"/>
                    <a:pt x="27333" y="0"/>
                    <a:pt x="37199" y="0"/>
                  </a:cubicBezTo>
                  <a:close/>
                </a:path>
              </a:pathLst>
            </a:custGeom>
            <a:solidFill>
              <a:srgbClr val="E4E7E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192553" cy="16275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4093414"/>
            <a:ext cx="7640200" cy="3606286"/>
            <a:chOff x="0" y="0"/>
            <a:chExt cx="3105578" cy="14658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05579" cy="1465891"/>
            </a:xfrm>
            <a:custGeom>
              <a:avLst/>
              <a:gdLst/>
              <a:ahLst/>
              <a:cxnLst/>
              <a:rect r="r" b="b" t="t" l="l"/>
              <a:pathLst>
                <a:path h="1465891" w="3105579">
                  <a:moveTo>
                    <a:pt x="2618136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1288218"/>
                  </a:lnTo>
                  <a:cubicBezTo>
                    <a:pt x="0" y="1386344"/>
                    <a:pt x="79547" y="1465891"/>
                    <a:pt x="177673" y="1465891"/>
                  </a:cubicBezTo>
                  <a:lnTo>
                    <a:pt x="2927906" y="1465891"/>
                  </a:lnTo>
                  <a:cubicBezTo>
                    <a:pt x="3026032" y="1465891"/>
                    <a:pt x="3105579" y="1386344"/>
                    <a:pt x="3105579" y="1288218"/>
                  </a:cubicBezTo>
                  <a:lnTo>
                    <a:pt x="3105579" y="523958"/>
                  </a:lnTo>
                  <a:cubicBezTo>
                    <a:pt x="3105579" y="480251"/>
                    <a:pt x="3089469" y="438079"/>
                    <a:pt x="3060330" y="405503"/>
                  </a:cubicBezTo>
                  <a:lnTo>
                    <a:pt x="2750553" y="59214"/>
                  </a:lnTo>
                  <a:cubicBezTo>
                    <a:pt x="2716849" y="21536"/>
                    <a:pt x="2668689" y="0"/>
                    <a:pt x="2618136" y="0"/>
                  </a:cubicBezTo>
                  <a:close/>
                </a:path>
              </a:pathLst>
            </a:custGeom>
            <a:blipFill>
              <a:blip r:embed="rId2"/>
              <a:stretch>
                <a:fillRect l="-483" t="0" r="-483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658350" y="4093414"/>
            <a:ext cx="7600950" cy="3606286"/>
            <a:chOff x="0" y="0"/>
            <a:chExt cx="3089623" cy="146587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089625" cy="1465891"/>
            </a:xfrm>
            <a:custGeom>
              <a:avLst/>
              <a:gdLst/>
              <a:ahLst/>
              <a:cxnLst/>
              <a:rect r="r" b="b" t="t" l="l"/>
              <a:pathLst>
                <a:path h="1465891" w="3089625">
                  <a:moveTo>
                    <a:pt x="2602182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1288218"/>
                  </a:lnTo>
                  <a:cubicBezTo>
                    <a:pt x="0" y="1386344"/>
                    <a:pt x="79547" y="1465891"/>
                    <a:pt x="177673" y="1465891"/>
                  </a:cubicBezTo>
                  <a:lnTo>
                    <a:pt x="2911952" y="1465891"/>
                  </a:lnTo>
                  <a:cubicBezTo>
                    <a:pt x="3010078" y="1465891"/>
                    <a:pt x="3089625" y="1386344"/>
                    <a:pt x="3089625" y="1288218"/>
                  </a:cubicBezTo>
                  <a:lnTo>
                    <a:pt x="3089625" y="523958"/>
                  </a:lnTo>
                  <a:cubicBezTo>
                    <a:pt x="3089624" y="480251"/>
                    <a:pt x="3073515" y="438079"/>
                    <a:pt x="3044376" y="405503"/>
                  </a:cubicBezTo>
                  <a:lnTo>
                    <a:pt x="2734599" y="59214"/>
                  </a:lnTo>
                  <a:cubicBezTo>
                    <a:pt x="2700894" y="21536"/>
                    <a:pt x="2652735" y="0"/>
                    <a:pt x="2602182" y="0"/>
                  </a:cubicBezTo>
                  <a:close/>
                </a:path>
              </a:pathLst>
            </a:custGeom>
            <a:blipFill>
              <a:blip r:embed="rId3"/>
              <a:stretch>
                <a:fillRect l="-74" t="0" r="-74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66750" y="666750"/>
            <a:ext cx="16954500" cy="2686050"/>
            <a:chOff x="0" y="0"/>
            <a:chExt cx="4987154" cy="790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987156" cy="790100"/>
            </a:xfrm>
            <a:custGeom>
              <a:avLst/>
              <a:gdLst/>
              <a:ahLst/>
              <a:cxnLst/>
              <a:rect r="r" b="b" t="t" l="l"/>
              <a:pathLst>
                <a:path h="790100" w="4987156">
                  <a:moveTo>
                    <a:pt x="464019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10707"/>
                  </a:lnTo>
                  <a:cubicBezTo>
                    <a:pt x="0" y="547218"/>
                    <a:pt x="13458" y="582448"/>
                    <a:pt x="37800" y="609659"/>
                  </a:cubicBezTo>
                  <a:lnTo>
                    <a:pt x="154967" y="740636"/>
                  </a:lnTo>
                  <a:cubicBezTo>
                    <a:pt x="183122" y="772111"/>
                    <a:pt x="223353" y="790101"/>
                    <a:pt x="265584" y="790100"/>
                  </a:cubicBezTo>
                  <a:lnTo>
                    <a:pt x="4838740" y="790100"/>
                  </a:lnTo>
                  <a:cubicBezTo>
                    <a:pt x="4878102" y="790100"/>
                    <a:pt x="4915853" y="774464"/>
                    <a:pt x="4943686" y="746630"/>
                  </a:cubicBezTo>
                  <a:cubicBezTo>
                    <a:pt x="4971519" y="718797"/>
                    <a:pt x="4987156" y="681047"/>
                    <a:pt x="4987156" y="641685"/>
                  </a:cubicBezTo>
                  <a:lnTo>
                    <a:pt x="4987156" y="366141"/>
                  </a:lnTo>
                  <a:cubicBezTo>
                    <a:pt x="4987156" y="329143"/>
                    <a:pt x="4973337" y="293478"/>
                    <a:pt x="4948407" y="266140"/>
                  </a:cubicBezTo>
                  <a:lnTo>
                    <a:pt x="4749864" y="48414"/>
                  </a:lnTo>
                  <a:cubicBezTo>
                    <a:pt x="4721742" y="17574"/>
                    <a:pt x="4681934" y="0"/>
                    <a:pt x="4640197" y="0"/>
                  </a:cubicBezTo>
                  <a:close/>
                </a:path>
              </a:pathLst>
            </a:custGeom>
            <a:solidFill>
              <a:srgbClr val="3772A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5288935" y="8442650"/>
            <a:ext cx="411659" cy="411659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3772A4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174625"/>
              <a:ext cx="711200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658350" y="7829550"/>
            <a:ext cx="6524625" cy="2281481"/>
            <a:chOff x="0" y="0"/>
            <a:chExt cx="8699500" cy="3041975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-19050"/>
              <a:ext cx="8698028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165">
                  <a:solidFill>
                    <a:srgbClr val="3772A4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VIP Reisende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762960"/>
              <a:ext cx="8699500" cy="22790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3393" indent="-226697" lvl="1">
                <a:lnSpc>
                  <a:spcPts val="2730"/>
                </a:lnSpc>
                <a:buFont typeface="Arial"/>
                <a:buChar char="•"/>
              </a:pPr>
              <a:r>
                <a:rPr lang="en-US" sz="2100" spc="-115">
                  <a:solidFill>
                    <a:srgbClr val="3772A4"/>
                  </a:solidFill>
                  <a:latin typeface="Work Sans"/>
                  <a:ea typeface="Work Sans"/>
                  <a:cs typeface="Work Sans"/>
                  <a:sym typeface="Work Sans"/>
                </a:rPr>
                <a:t>Häufige Flugreisen</a:t>
              </a:r>
            </a:p>
            <a:p>
              <a:pPr algn="l" marL="453393" indent="-226697" lvl="1">
                <a:lnSpc>
                  <a:spcPts val="2730"/>
                </a:lnSpc>
                <a:buFont typeface="Arial"/>
                <a:buChar char="•"/>
              </a:pPr>
              <a:r>
                <a:rPr lang="en-US" sz="2100" spc="-115">
                  <a:solidFill>
                    <a:srgbClr val="3772A4"/>
                  </a:solidFill>
                  <a:latin typeface="Work Sans"/>
                  <a:ea typeface="Work Sans"/>
                  <a:cs typeface="Work Sans"/>
                  <a:sym typeface="Work Sans"/>
                </a:rPr>
                <a:t>Hohe Ausgaben für Flüge</a:t>
              </a:r>
            </a:p>
            <a:p>
              <a:pPr algn="l" marL="453393" indent="-226697" lvl="1">
                <a:lnSpc>
                  <a:spcPts val="2730"/>
                </a:lnSpc>
                <a:buFont typeface="Arial"/>
                <a:buChar char="•"/>
              </a:pPr>
              <a:r>
                <a:rPr lang="en-US" sz="2100" spc="-115">
                  <a:solidFill>
                    <a:srgbClr val="3772A4"/>
                  </a:solidFill>
                  <a:latin typeface="Work Sans"/>
                  <a:ea typeface="Work Sans"/>
                  <a:cs typeface="Work Sans"/>
                  <a:sym typeface="Work Sans"/>
                </a:rPr>
                <a:t>Aktive Hotelbucher</a:t>
              </a:r>
            </a:p>
            <a:p>
              <a:pPr algn="l">
                <a:lnSpc>
                  <a:spcPts val="2730"/>
                </a:lnSpc>
              </a:pPr>
            </a:p>
            <a:p>
              <a:pPr algn="l" marL="0" indent="0" lvl="0">
                <a:lnSpc>
                  <a:spcPts val="2730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105025" y="1641475"/>
            <a:ext cx="12639675" cy="898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49"/>
              </a:lnSpc>
              <a:spcBef>
                <a:spcPct val="0"/>
              </a:spcBef>
            </a:pPr>
            <a:r>
              <a:rPr lang="en-US" b="true" sz="6999" spc="-384">
                <a:solidFill>
                  <a:srgbClr val="E4E7EB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Nutz</a:t>
            </a:r>
            <a:r>
              <a:rPr lang="en-US" b="true" sz="6999" spc="-384" strike="noStrike" u="none">
                <a:solidFill>
                  <a:srgbClr val="E4E7EB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erg</a:t>
            </a:r>
            <a:r>
              <a:rPr lang="en-US" b="true" sz="6999" spc="-384" strike="noStrike" u="none">
                <a:solidFill>
                  <a:srgbClr val="E4E7EB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rupp</a:t>
            </a:r>
            <a:r>
              <a:rPr lang="en-US" b="true" sz="6999" spc="-384" strike="noStrike" u="none">
                <a:solidFill>
                  <a:srgbClr val="E4E7EB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en 1</a:t>
            </a:r>
            <a:r>
              <a:rPr lang="en-US" b="true" sz="6999" spc="-384" strike="noStrike" u="none">
                <a:solidFill>
                  <a:srgbClr val="E4E7EB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 &amp; 2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28700" y="7829550"/>
            <a:ext cx="6524625" cy="2281481"/>
            <a:chOff x="0" y="0"/>
            <a:chExt cx="8699500" cy="3041975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-19050"/>
              <a:ext cx="8698028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165">
                  <a:solidFill>
                    <a:srgbClr val="3772A4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G</a:t>
              </a:r>
              <a:r>
                <a:rPr lang="en-US" b="true" sz="3000" spc="-165">
                  <a:solidFill>
                    <a:srgbClr val="3772A4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eschäftsreisende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762960"/>
              <a:ext cx="8699500" cy="22790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3393" indent="-226697" lvl="1">
                <a:lnSpc>
                  <a:spcPts val="2730"/>
                </a:lnSpc>
                <a:buFont typeface="Arial"/>
                <a:buChar char="•"/>
              </a:pPr>
              <a:r>
                <a:rPr lang="en-US" sz="2100" spc="-115">
                  <a:solidFill>
                    <a:srgbClr val="3772A4"/>
                  </a:solidFill>
                  <a:latin typeface="Work Sans"/>
                  <a:ea typeface="Work Sans"/>
                  <a:cs typeface="Work Sans"/>
                  <a:sym typeface="Work Sans"/>
                </a:rPr>
                <a:t>Hohe Au</a:t>
              </a:r>
              <a:r>
                <a:rPr lang="en-US" sz="2100" spc="-115">
                  <a:solidFill>
                    <a:srgbClr val="3772A4"/>
                  </a:solidFill>
                  <a:latin typeface="Work Sans"/>
                  <a:ea typeface="Work Sans"/>
                  <a:cs typeface="Work Sans"/>
                  <a:sym typeface="Work Sans"/>
                </a:rPr>
                <a:t>sgaben</a:t>
              </a:r>
            </a:p>
            <a:p>
              <a:pPr algn="l" marL="453393" indent="-226697" lvl="1">
                <a:lnSpc>
                  <a:spcPts val="2730"/>
                </a:lnSpc>
                <a:buFont typeface="Arial"/>
                <a:buChar char="•"/>
              </a:pPr>
              <a:r>
                <a:rPr lang="en-US" sz="2100" spc="-115">
                  <a:solidFill>
                    <a:srgbClr val="3772A4"/>
                  </a:solidFill>
                  <a:latin typeface="Work Sans"/>
                  <a:ea typeface="Work Sans"/>
                  <a:cs typeface="Work Sans"/>
                  <a:sym typeface="Work Sans"/>
                </a:rPr>
                <a:t>Reiseerfahrung</a:t>
              </a:r>
            </a:p>
            <a:p>
              <a:pPr algn="l" marL="453393" indent="-226697" lvl="1">
                <a:lnSpc>
                  <a:spcPts val="2730"/>
                </a:lnSpc>
                <a:buFont typeface="Arial"/>
                <a:buChar char="•"/>
              </a:pPr>
              <a:r>
                <a:rPr lang="en-US" sz="2100" spc="-115">
                  <a:solidFill>
                    <a:srgbClr val="3772A4"/>
                  </a:solidFill>
                  <a:latin typeface="Work Sans"/>
                  <a:ea typeface="Work Sans"/>
                  <a:cs typeface="Work Sans"/>
                  <a:sym typeface="Work Sans"/>
                </a:rPr>
                <a:t>Ausgeglichenes Reiseverhalten</a:t>
              </a:r>
            </a:p>
            <a:p>
              <a:pPr algn="l">
                <a:lnSpc>
                  <a:spcPts val="2730"/>
                </a:lnSpc>
              </a:pPr>
            </a:p>
            <a:p>
              <a:pPr algn="l" marL="0" indent="0" lvl="0">
                <a:lnSpc>
                  <a:spcPts val="2730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6330271" y="7981819"/>
            <a:ext cx="1887100" cy="1716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</a:p>
          <a:p>
            <a:pPr algn="l">
              <a:lnSpc>
                <a:spcPts val="2730"/>
              </a:lnSpc>
            </a:pPr>
            <a:r>
              <a:rPr lang="en-US" sz="2100" spc="-115">
                <a:solidFill>
                  <a:srgbClr val="3772A4"/>
                </a:solidFill>
                <a:latin typeface="Work Sans"/>
                <a:ea typeface="Work Sans"/>
                <a:cs typeface="Work Sans"/>
                <a:sym typeface="Work Sans"/>
              </a:rPr>
              <a:t>Kostenloses </a:t>
            </a:r>
          </a:p>
          <a:p>
            <a:pPr algn="l">
              <a:lnSpc>
                <a:spcPts val="2730"/>
              </a:lnSpc>
            </a:pPr>
            <a:r>
              <a:rPr lang="en-US" sz="2100" spc="-115">
                <a:solidFill>
                  <a:srgbClr val="3772A4"/>
                </a:solidFill>
                <a:latin typeface="Work Sans"/>
                <a:ea typeface="Work Sans"/>
                <a:cs typeface="Work Sans"/>
                <a:sym typeface="Work Sans"/>
              </a:rPr>
              <a:t>Hotelessen</a:t>
            </a:r>
          </a:p>
          <a:p>
            <a:pPr algn="l">
              <a:lnSpc>
                <a:spcPts val="2730"/>
              </a:lnSpc>
            </a:pPr>
          </a:p>
          <a:p>
            <a:pPr algn="l" marL="0" indent="0" lvl="0">
              <a:lnSpc>
                <a:spcPts val="2730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14957270" y="7981819"/>
            <a:ext cx="1887100" cy="1716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</a:p>
          <a:p>
            <a:pPr algn="l">
              <a:lnSpc>
                <a:spcPts val="2730"/>
              </a:lnSpc>
            </a:pPr>
            <a:r>
              <a:rPr lang="en-US" sz="2100" spc="-115">
                <a:solidFill>
                  <a:srgbClr val="3772A4"/>
                </a:solidFill>
                <a:latin typeface="Work Sans"/>
                <a:ea typeface="Work Sans"/>
                <a:cs typeface="Work Sans"/>
                <a:sym typeface="Work Sans"/>
              </a:rPr>
              <a:t>Kostenlose Nacht bei Flug</a:t>
            </a:r>
          </a:p>
          <a:p>
            <a:pPr algn="l">
              <a:lnSpc>
                <a:spcPts val="2730"/>
              </a:lnSpc>
            </a:pPr>
          </a:p>
          <a:p>
            <a:pPr algn="l" marL="0" indent="0" lvl="0">
              <a:lnSpc>
                <a:spcPts val="2730"/>
              </a:lnSpc>
            </a:pPr>
          </a:p>
        </p:txBody>
      </p:sp>
      <p:grpSp>
        <p:nvGrpSpPr>
          <p:cNvPr name="Group 26" id="26"/>
          <p:cNvGrpSpPr/>
          <p:nvPr/>
        </p:nvGrpSpPr>
        <p:grpSpPr>
          <a:xfrm rot="0">
            <a:off x="13881265" y="8442650"/>
            <a:ext cx="411659" cy="411659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3772A4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174625"/>
              <a:ext cx="711200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3657600"/>
            <a:ext cx="8324850" cy="5962650"/>
            <a:chOff x="0" y="0"/>
            <a:chExt cx="2192553" cy="15704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2553" cy="1570410"/>
            </a:xfrm>
            <a:custGeom>
              <a:avLst/>
              <a:gdLst/>
              <a:ahLst/>
              <a:cxnLst/>
              <a:rect r="r" b="b" t="t" l="l"/>
              <a:pathLst>
                <a:path h="1570410" w="2192553">
                  <a:moveTo>
                    <a:pt x="37199" y="0"/>
                  </a:moveTo>
                  <a:lnTo>
                    <a:pt x="2155354" y="0"/>
                  </a:lnTo>
                  <a:cubicBezTo>
                    <a:pt x="2165220" y="0"/>
                    <a:pt x="2174682" y="3919"/>
                    <a:pt x="2181658" y="10895"/>
                  </a:cubicBezTo>
                  <a:cubicBezTo>
                    <a:pt x="2188634" y="17872"/>
                    <a:pt x="2192553" y="27333"/>
                    <a:pt x="2192553" y="37199"/>
                  </a:cubicBezTo>
                  <a:lnTo>
                    <a:pt x="2192553" y="1533211"/>
                  </a:lnTo>
                  <a:cubicBezTo>
                    <a:pt x="2192553" y="1543077"/>
                    <a:pt x="2188634" y="1552538"/>
                    <a:pt x="2181658" y="1559514"/>
                  </a:cubicBezTo>
                  <a:cubicBezTo>
                    <a:pt x="2174682" y="1566491"/>
                    <a:pt x="2165220" y="1570410"/>
                    <a:pt x="2155354" y="1570410"/>
                  </a:cubicBezTo>
                  <a:lnTo>
                    <a:pt x="37199" y="1570410"/>
                  </a:lnTo>
                  <a:cubicBezTo>
                    <a:pt x="27333" y="1570410"/>
                    <a:pt x="17872" y="1566491"/>
                    <a:pt x="10895" y="1559514"/>
                  </a:cubicBezTo>
                  <a:cubicBezTo>
                    <a:pt x="3919" y="1552538"/>
                    <a:pt x="0" y="1543077"/>
                    <a:pt x="0" y="1533211"/>
                  </a:cubicBezTo>
                  <a:lnTo>
                    <a:pt x="0" y="37199"/>
                  </a:lnTo>
                  <a:cubicBezTo>
                    <a:pt x="0" y="27333"/>
                    <a:pt x="3919" y="17872"/>
                    <a:pt x="10895" y="10895"/>
                  </a:cubicBezTo>
                  <a:cubicBezTo>
                    <a:pt x="17872" y="3919"/>
                    <a:pt x="27333" y="0"/>
                    <a:pt x="37199" y="0"/>
                  </a:cubicBezTo>
                  <a:close/>
                </a:path>
              </a:pathLst>
            </a:custGeom>
            <a:solidFill>
              <a:srgbClr val="E4E7E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192553" cy="16275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400" spc="-132">
                  <a:solidFill>
                    <a:srgbClr val="093C25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Geschäftsreisende</a:t>
              </a:r>
            </a:p>
            <a:p>
              <a:pPr algn="ctr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 spc="-132">
                  <a:solidFill>
                    <a:srgbClr val="093C25"/>
                  </a:solidFill>
                  <a:latin typeface="Work Sans"/>
                  <a:ea typeface="Work Sans"/>
                  <a:cs typeface="Work Sans"/>
                  <a:sym typeface="Work Sans"/>
                </a:rPr>
                <a:t>Hohe Ausgaben</a:t>
              </a:r>
            </a:p>
            <a:p>
              <a:pPr algn="ctr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 spc="-132">
                  <a:solidFill>
                    <a:srgbClr val="093C25"/>
                  </a:solidFill>
                  <a:latin typeface="Work Sans"/>
                  <a:ea typeface="Work Sans"/>
                  <a:cs typeface="Work Sans"/>
                  <a:sym typeface="Work Sans"/>
                </a:rPr>
                <a:t>Reiseerfahrung</a:t>
              </a:r>
            </a:p>
            <a:p>
              <a:pPr algn="ctr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 spc="-132">
                  <a:solidFill>
                    <a:srgbClr val="093C25"/>
                  </a:solidFill>
                  <a:latin typeface="Work Sans"/>
                  <a:ea typeface="Work Sans"/>
                  <a:cs typeface="Work Sans"/>
                  <a:sym typeface="Work Sans"/>
                </a:rPr>
                <a:t>Ausgeglichenes Reiseverhalten</a:t>
              </a:r>
            </a:p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3657600"/>
            <a:ext cx="8324850" cy="5962650"/>
            <a:chOff x="0" y="0"/>
            <a:chExt cx="2192553" cy="15704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2553" cy="1570410"/>
            </a:xfrm>
            <a:custGeom>
              <a:avLst/>
              <a:gdLst/>
              <a:ahLst/>
              <a:cxnLst/>
              <a:rect r="r" b="b" t="t" l="l"/>
              <a:pathLst>
                <a:path h="1570410" w="2192553">
                  <a:moveTo>
                    <a:pt x="37199" y="0"/>
                  </a:moveTo>
                  <a:lnTo>
                    <a:pt x="2155354" y="0"/>
                  </a:lnTo>
                  <a:cubicBezTo>
                    <a:pt x="2165220" y="0"/>
                    <a:pt x="2174682" y="3919"/>
                    <a:pt x="2181658" y="10895"/>
                  </a:cubicBezTo>
                  <a:cubicBezTo>
                    <a:pt x="2188634" y="17872"/>
                    <a:pt x="2192553" y="27333"/>
                    <a:pt x="2192553" y="37199"/>
                  </a:cubicBezTo>
                  <a:lnTo>
                    <a:pt x="2192553" y="1533211"/>
                  </a:lnTo>
                  <a:cubicBezTo>
                    <a:pt x="2192553" y="1543077"/>
                    <a:pt x="2188634" y="1552538"/>
                    <a:pt x="2181658" y="1559514"/>
                  </a:cubicBezTo>
                  <a:cubicBezTo>
                    <a:pt x="2174682" y="1566491"/>
                    <a:pt x="2165220" y="1570410"/>
                    <a:pt x="2155354" y="1570410"/>
                  </a:cubicBezTo>
                  <a:lnTo>
                    <a:pt x="37199" y="1570410"/>
                  </a:lnTo>
                  <a:cubicBezTo>
                    <a:pt x="27333" y="1570410"/>
                    <a:pt x="17872" y="1566491"/>
                    <a:pt x="10895" y="1559514"/>
                  </a:cubicBezTo>
                  <a:cubicBezTo>
                    <a:pt x="3919" y="1552538"/>
                    <a:pt x="0" y="1543077"/>
                    <a:pt x="0" y="1533211"/>
                  </a:cubicBezTo>
                  <a:lnTo>
                    <a:pt x="0" y="37199"/>
                  </a:lnTo>
                  <a:cubicBezTo>
                    <a:pt x="0" y="27333"/>
                    <a:pt x="3919" y="17872"/>
                    <a:pt x="10895" y="10895"/>
                  </a:cubicBezTo>
                  <a:cubicBezTo>
                    <a:pt x="17872" y="3919"/>
                    <a:pt x="27333" y="0"/>
                    <a:pt x="37199" y="0"/>
                  </a:cubicBezTo>
                  <a:close/>
                </a:path>
              </a:pathLst>
            </a:custGeom>
            <a:solidFill>
              <a:srgbClr val="E4E7E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192553" cy="16275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4093414"/>
            <a:ext cx="7640200" cy="3606286"/>
            <a:chOff x="0" y="0"/>
            <a:chExt cx="3105578" cy="14658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05579" cy="1465891"/>
            </a:xfrm>
            <a:custGeom>
              <a:avLst/>
              <a:gdLst/>
              <a:ahLst/>
              <a:cxnLst/>
              <a:rect r="r" b="b" t="t" l="l"/>
              <a:pathLst>
                <a:path h="1465891" w="3105579">
                  <a:moveTo>
                    <a:pt x="2618136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1288218"/>
                  </a:lnTo>
                  <a:cubicBezTo>
                    <a:pt x="0" y="1386344"/>
                    <a:pt x="79547" y="1465891"/>
                    <a:pt x="177673" y="1465891"/>
                  </a:cubicBezTo>
                  <a:lnTo>
                    <a:pt x="2927906" y="1465891"/>
                  </a:lnTo>
                  <a:cubicBezTo>
                    <a:pt x="3026032" y="1465891"/>
                    <a:pt x="3105579" y="1386344"/>
                    <a:pt x="3105579" y="1288218"/>
                  </a:cubicBezTo>
                  <a:lnTo>
                    <a:pt x="3105579" y="523958"/>
                  </a:lnTo>
                  <a:cubicBezTo>
                    <a:pt x="3105579" y="480251"/>
                    <a:pt x="3089469" y="438079"/>
                    <a:pt x="3060330" y="405503"/>
                  </a:cubicBezTo>
                  <a:lnTo>
                    <a:pt x="2750553" y="59214"/>
                  </a:lnTo>
                  <a:cubicBezTo>
                    <a:pt x="2716849" y="21536"/>
                    <a:pt x="2668689" y="0"/>
                    <a:pt x="2618136" y="0"/>
                  </a:cubicBezTo>
                  <a:close/>
                </a:path>
              </a:pathLst>
            </a:custGeom>
            <a:blipFill>
              <a:blip r:embed="rId2"/>
              <a:stretch>
                <a:fillRect l="-483" t="0" r="-483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658350" y="4093414"/>
            <a:ext cx="7600950" cy="3625918"/>
            <a:chOff x="0" y="0"/>
            <a:chExt cx="3089623" cy="147385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089625" cy="1473871"/>
            </a:xfrm>
            <a:custGeom>
              <a:avLst/>
              <a:gdLst/>
              <a:ahLst/>
              <a:cxnLst/>
              <a:rect r="r" b="b" t="t" l="l"/>
              <a:pathLst>
                <a:path h="1473871" w="3089625">
                  <a:moveTo>
                    <a:pt x="2602182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1296198"/>
                  </a:lnTo>
                  <a:cubicBezTo>
                    <a:pt x="0" y="1394324"/>
                    <a:pt x="79547" y="1473871"/>
                    <a:pt x="177673" y="1473871"/>
                  </a:cubicBezTo>
                  <a:lnTo>
                    <a:pt x="2911952" y="1473871"/>
                  </a:lnTo>
                  <a:cubicBezTo>
                    <a:pt x="3010078" y="1473871"/>
                    <a:pt x="3089625" y="1394324"/>
                    <a:pt x="3089625" y="1296198"/>
                  </a:cubicBezTo>
                  <a:lnTo>
                    <a:pt x="3089625" y="523958"/>
                  </a:lnTo>
                  <a:cubicBezTo>
                    <a:pt x="3089624" y="480251"/>
                    <a:pt x="3073515" y="438079"/>
                    <a:pt x="3044376" y="405503"/>
                  </a:cubicBezTo>
                  <a:lnTo>
                    <a:pt x="2734599" y="59214"/>
                  </a:lnTo>
                  <a:cubicBezTo>
                    <a:pt x="2700894" y="21536"/>
                    <a:pt x="2652735" y="0"/>
                    <a:pt x="2602182" y="0"/>
                  </a:cubicBezTo>
                  <a:close/>
                </a:path>
              </a:pathLst>
            </a:custGeom>
            <a:blipFill>
              <a:blip r:embed="rId3"/>
              <a:stretch>
                <a:fillRect l="-347" t="0" r="-347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66750" y="666750"/>
            <a:ext cx="16954500" cy="2686050"/>
            <a:chOff x="0" y="0"/>
            <a:chExt cx="4987154" cy="790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987156" cy="790100"/>
            </a:xfrm>
            <a:custGeom>
              <a:avLst/>
              <a:gdLst/>
              <a:ahLst/>
              <a:cxnLst/>
              <a:rect r="r" b="b" t="t" l="l"/>
              <a:pathLst>
                <a:path h="790100" w="4987156">
                  <a:moveTo>
                    <a:pt x="464019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10707"/>
                  </a:lnTo>
                  <a:cubicBezTo>
                    <a:pt x="0" y="547218"/>
                    <a:pt x="13458" y="582448"/>
                    <a:pt x="37800" y="609659"/>
                  </a:cubicBezTo>
                  <a:lnTo>
                    <a:pt x="154967" y="740636"/>
                  </a:lnTo>
                  <a:cubicBezTo>
                    <a:pt x="183122" y="772111"/>
                    <a:pt x="223353" y="790101"/>
                    <a:pt x="265584" y="790100"/>
                  </a:cubicBezTo>
                  <a:lnTo>
                    <a:pt x="4838740" y="790100"/>
                  </a:lnTo>
                  <a:cubicBezTo>
                    <a:pt x="4878102" y="790100"/>
                    <a:pt x="4915853" y="774464"/>
                    <a:pt x="4943686" y="746630"/>
                  </a:cubicBezTo>
                  <a:cubicBezTo>
                    <a:pt x="4971519" y="718797"/>
                    <a:pt x="4987156" y="681047"/>
                    <a:pt x="4987156" y="641685"/>
                  </a:cubicBezTo>
                  <a:lnTo>
                    <a:pt x="4987156" y="366141"/>
                  </a:lnTo>
                  <a:cubicBezTo>
                    <a:pt x="4987156" y="329143"/>
                    <a:pt x="4973337" y="293478"/>
                    <a:pt x="4948407" y="266140"/>
                  </a:cubicBezTo>
                  <a:lnTo>
                    <a:pt x="4749864" y="48414"/>
                  </a:lnTo>
                  <a:cubicBezTo>
                    <a:pt x="4721742" y="17574"/>
                    <a:pt x="4681934" y="0"/>
                    <a:pt x="4640197" y="0"/>
                  </a:cubicBezTo>
                  <a:close/>
                </a:path>
              </a:pathLst>
            </a:custGeom>
            <a:solidFill>
              <a:srgbClr val="3772A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2105025" y="1641475"/>
            <a:ext cx="12639675" cy="898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49"/>
              </a:lnSpc>
              <a:spcBef>
                <a:spcPct val="0"/>
              </a:spcBef>
            </a:pPr>
            <a:r>
              <a:rPr lang="en-US" b="true" sz="6999" spc="-384">
                <a:solidFill>
                  <a:srgbClr val="E4E7EB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Nutz</a:t>
            </a:r>
            <a:r>
              <a:rPr lang="en-US" b="true" sz="6999" spc="-384" strike="noStrike" u="none">
                <a:solidFill>
                  <a:srgbClr val="E4E7EB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erg</a:t>
            </a:r>
            <a:r>
              <a:rPr lang="en-US" b="true" sz="6999" spc="-384" strike="noStrike" u="none">
                <a:solidFill>
                  <a:srgbClr val="E4E7EB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rupp</a:t>
            </a:r>
            <a:r>
              <a:rPr lang="en-US" b="true" sz="6999" spc="-384" strike="noStrike" u="none">
                <a:solidFill>
                  <a:srgbClr val="E4E7EB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en 3</a:t>
            </a:r>
            <a:r>
              <a:rPr lang="en-US" b="true" sz="6999" spc="-384" strike="noStrike" u="none">
                <a:solidFill>
                  <a:srgbClr val="E4E7EB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 &amp; 4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28700" y="7899725"/>
            <a:ext cx="6524625" cy="2624381"/>
            <a:chOff x="0" y="0"/>
            <a:chExt cx="8699500" cy="3499175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19050"/>
              <a:ext cx="8698028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165">
                  <a:solidFill>
                    <a:srgbClr val="3772A4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Surfer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762960"/>
              <a:ext cx="8699500" cy="27362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3393" indent="-226697" lvl="1">
                <a:lnSpc>
                  <a:spcPts val="2730"/>
                </a:lnSpc>
                <a:buFont typeface="Arial"/>
                <a:buChar char="•"/>
              </a:pPr>
              <a:r>
                <a:rPr lang="en-US" sz="2100" spc="-115">
                  <a:solidFill>
                    <a:srgbClr val="3772A4"/>
                  </a:solidFill>
                  <a:latin typeface="Work Sans"/>
                  <a:ea typeface="Work Sans"/>
                  <a:cs typeface="Work Sans"/>
                  <a:sym typeface="Work Sans"/>
                </a:rPr>
                <a:t>Hohe App-Aktivität</a:t>
              </a:r>
            </a:p>
            <a:p>
              <a:pPr algn="l" marL="453393" indent="-226697" lvl="1">
                <a:lnSpc>
                  <a:spcPts val="2730"/>
                </a:lnSpc>
                <a:buFont typeface="Arial"/>
                <a:buChar char="•"/>
              </a:pPr>
              <a:r>
                <a:rPr lang="en-US" sz="2100" spc="-115">
                  <a:solidFill>
                    <a:srgbClr val="3772A4"/>
                  </a:solidFill>
                  <a:latin typeface="Work Sans"/>
                  <a:ea typeface="Work Sans"/>
                  <a:cs typeface="Work Sans"/>
                  <a:sym typeface="Work Sans"/>
                </a:rPr>
                <a:t>Geringer Buchungsanteil</a:t>
              </a:r>
            </a:p>
            <a:p>
              <a:pPr algn="l">
                <a:lnSpc>
                  <a:spcPts val="2730"/>
                </a:lnSpc>
              </a:pPr>
            </a:p>
            <a:p>
              <a:pPr algn="l">
                <a:lnSpc>
                  <a:spcPts val="2730"/>
                </a:lnSpc>
              </a:pPr>
            </a:p>
            <a:p>
              <a:pPr algn="l">
                <a:lnSpc>
                  <a:spcPts val="2730"/>
                </a:lnSpc>
              </a:pPr>
            </a:p>
            <a:p>
              <a:pPr algn="l" marL="0" indent="0" lvl="0">
                <a:lnSpc>
                  <a:spcPts val="273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6288357" y="8326091"/>
            <a:ext cx="1887100" cy="68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 spc="-115">
                <a:solidFill>
                  <a:srgbClr val="3772A4"/>
                </a:solidFill>
                <a:latin typeface="Work Sans"/>
                <a:ea typeface="Work Sans"/>
                <a:cs typeface="Work Sans"/>
                <a:sym typeface="Work Sans"/>
              </a:rPr>
              <a:t>Kostenlose</a:t>
            </a:r>
          </a:p>
          <a:p>
            <a:pPr algn="l" marL="0" indent="0" lvl="0">
              <a:lnSpc>
                <a:spcPts val="2730"/>
              </a:lnSpc>
            </a:pPr>
            <a:r>
              <a:rPr lang="en-US" sz="2100" spc="-115">
                <a:solidFill>
                  <a:srgbClr val="3772A4"/>
                </a:solidFill>
                <a:latin typeface="Work Sans"/>
                <a:ea typeface="Work Sans"/>
                <a:cs typeface="Work Sans"/>
                <a:sym typeface="Work Sans"/>
              </a:rPr>
              <a:t>Stornierung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5251615" y="8512826"/>
            <a:ext cx="411659" cy="411659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3772A4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174625"/>
              <a:ext cx="711200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9658350" y="7880675"/>
            <a:ext cx="6523521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3000" spc="-165">
                <a:solidFill>
                  <a:srgbClr val="3772A4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Gruppenreisende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921573" y="8326091"/>
            <a:ext cx="1887100" cy="68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 spc="-115">
                <a:solidFill>
                  <a:srgbClr val="3772A4"/>
                </a:solidFill>
                <a:latin typeface="Work Sans"/>
                <a:ea typeface="Work Sans"/>
                <a:cs typeface="Work Sans"/>
                <a:sym typeface="Work Sans"/>
              </a:rPr>
              <a:t>Kostenloses</a:t>
            </a:r>
          </a:p>
          <a:p>
            <a:pPr algn="l" marL="0" indent="0" lvl="0">
              <a:lnSpc>
                <a:spcPts val="2730"/>
              </a:lnSpc>
            </a:pPr>
            <a:r>
              <a:rPr lang="en-US" sz="2100" spc="-115">
                <a:solidFill>
                  <a:srgbClr val="3772A4"/>
                </a:solidFill>
                <a:latin typeface="Work Sans"/>
                <a:ea typeface="Work Sans"/>
                <a:cs typeface="Work Sans"/>
                <a:sym typeface="Work Sans"/>
              </a:rPr>
              <a:t>Gepäckstück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3881265" y="8512826"/>
            <a:ext cx="411659" cy="411659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3772A4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174625"/>
              <a:ext cx="711200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9696450" y="8412435"/>
            <a:ext cx="3039934" cy="68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3" indent="-226697" lvl="1">
              <a:lnSpc>
                <a:spcPts val="2730"/>
              </a:lnSpc>
              <a:buFont typeface="Arial"/>
              <a:buChar char="•"/>
            </a:pPr>
            <a:r>
              <a:rPr lang="en-US" sz="2100" spc="-115">
                <a:solidFill>
                  <a:srgbClr val="3772A4"/>
                </a:solidFill>
                <a:latin typeface="Work Sans"/>
                <a:ea typeface="Work Sans"/>
                <a:cs typeface="Work Sans"/>
                <a:sym typeface="Work Sans"/>
              </a:rPr>
              <a:t>Hohes Gepäckaufkommen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3657600"/>
            <a:ext cx="8324850" cy="5962650"/>
            <a:chOff x="0" y="0"/>
            <a:chExt cx="2192553" cy="15704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2553" cy="1570410"/>
            </a:xfrm>
            <a:custGeom>
              <a:avLst/>
              <a:gdLst/>
              <a:ahLst/>
              <a:cxnLst/>
              <a:rect r="r" b="b" t="t" l="l"/>
              <a:pathLst>
                <a:path h="1570410" w="2192553">
                  <a:moveTo>
                    <a:pt x="37199" y="0"/>
                  </a:moveTo>
                  <a:lnTo>
                    <a:pt x="2155354" y="0"/>
                  </a:lnTo>
                  <a:cubicBezTo>
                    <a:pt x="2165220" y="0"/>
                    <a:pt x="2174682" y="3919"/>
                    <a:pt x="2181658" y="10895"/>
                  </a:cubicBezTo>
                  <a:cubicBezTo>
                    <a:pt x="2188634" y="17872"/>
                    <a:pt x="2192553" y="27333"/>
                    <a:pt x="2192553" y="37199"/>
                  </a:cubicBezTo>
                  <a:lnTo>
                    <a:pt x="2192553" y="1533211"/>
                  </a:lnTo>
                  <a:cubicBezTo>
                    <a:pt x="2192553" y="1543077"/>
                    <a:pt x="2188634" y="1552538"/>
                    <a:pt x="2181658" y="1559514"/>
                  </a:cubicBezTo>
                  <a:cubicBezTo>
                    <a:pt x="2174682" y="1566491"/>
                    <a:pt x="2165220" y="1570410"/>
                    <a:pt x="2155354" y="1570410"/>
                  </a:cubicBezTo>
                  <a:lnTo>
                    <a:pt x="37199" y="1570410"/>
                  </a:lnTo>
                  <a:cubicBezTo>
                    <a:pt x="27333" y="1570410"/>
                    <a:pt x="17872" y="1566491"/>
                    <a:pt x="10895" y="1559514"/>
                  </a:cubicBezTo>
                  <a:cubicBezTo>
                    <a:pt x="3919" y="1552538"/>
                    <a:pt x="0" y="1543077"/>
                    <a:pt x="0" y="1533211"/>
                  </a:cubicBezTo>
                  <a:lnTo>
                    <a:pt x="0" y="37199"/>
                  </a:lnTo>
                  <a:cubicBezTo>
                    <a:pt x="0" y="27333"/>
                    <a:pt x="3919" y="17872"/>
                    <a:pt x="10895" y="10895"/>
                  </a:cubicBezTo>
                  <a:cubicBezTo>
                    <a:pt x="17872" y="3919"/>
                    <a:pt x="27333" y="0"/>
                    <a:pt x="37199" y="0"/>
                  </a:cubicBezTo>
                  <a:close/>
                </a:path>
              </a:pathLst>
            </a:custGeom>
            <a:solidFill>
              <a:srgbClr val="E4E7E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192553" cy="16275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0" y="3638550"/>
            <a:ext cx="8324850" cy="5962650"/>
            <a:chOff x="0" y="0"/>
            <a:chExt cx="2192553" cy="15704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2553" cy="1570410"/>
            </a:xfrm>
            <a:custGeom>
              <a:avLst/>
              <a:gdLst/>
              <a:ahLst/>
              <a:cxnLst/>
              <a:rect r="r" b="b" t="t" l="l"/>
              <a:pathLst>
                <a:path h="1570410" w="2192553">
                  <a:moveTo>
                    <a:pt x="37199" y="0"/>
                  </a:moveTo>
                  <a:lnTo>
                    <a:pt x="2155354" y="0"/>
                  </a:lnTo>
                  <a:cubicBezTo>
                    <a:pt x="2165220" y="0"/>
                    <a:pt x="2174682" y="3919"/>
                    <a:pt x="2181658" y="10895"/>
                  </a:cubicBezTo>
                  <a:cubicBezTo>
                    <a:pt x="2188634" y="17872"/>
                    <a:pt x="2192553" y="27333"/>
                    <a:pt x="2192553" y="37199"/>
                  </a:cubicBezTo>
                  <a:lnTo>
                    <a:pt x="2192553" y="1533211"/>
                  </a:lnTo>
                  <a:cubicBezTo>
                    <a:pt x="2192553" y="1543077"/>
                    <a:pt x="2188634" y="1552538"/>
                    <a:pt x="2181658" y="1559514"/>
                  </a:cubicBezTo>
                  <a:cubicBezTo>
                    <a:pt x="2174682" y="1566491"/>
                    <a:pt x="2165220" y="1570410"/>
                    <a:pt x="2155354" y="1570410"/>
                  </a:cubicBezTo>
                  <a:lnTo>
                    <a:pt x="37199" y="1570410"/>
                  </a:lnTo>
                  <a:cubicBezTo>
                    <a:pt x="27333" y="1570410"/>
                    <a:pt x="17872" y="1566491"/>
                    <a:pt x="10895" y="1559514"/>
                  </a:cubicBezTo>
                  <a:cubicBezTo>
                    <a:pt x="3919" y="1552538"/>
                    <a:pt x="0" y="1543077"/>
                    <a:pt x="0" y="1533211"/>
                  </a:cubicBezTo>
                  <a:lnTo>
                    <a:pt x="0" y="37199"/>
                  </a:lnTo>
                  <a:cubicBezTo>
                    <a:pt x="0" y="27333"/>
                    <a:pt x="3919" y="17872"/>
                    <a:pt x="10895" y="10895"/>
                  </a:cubicBezTo>
                  <a:cubicBezTo>
                    <a:pt x="17872" y="3919"/>
                    <a:pt x="27333" y="0"/>
                    <a:pt x="37199" y="0"/>
                  </a:cubicBezTo>
                  <a:close/>
                </a:path>
              </a:pathLst>
            </a:custGeom>
            <a:solidFill>
              <a:srgbClr val="E4E7E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192553" cy="16275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3823120"/>
            <a:ext cx="7640200" cy="3606286"/>
            <a:chOff x="0" y="0"/>
            <a:chExt cx="3105578" cy="14658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05579" cy="1465891"/>
            </a:xfrm>
            <a:custGeom>
              <a:avLst/>
              <a:gdLst/>
              <a:ahLst/>
              <a:cxnLst/>
              <a:rect r="r" b="b" t="t" l="l"/>
              <a:pathLst>
                <a:path h="1465891" w="3105579">
                  <a:moveTo>
                    <a:pt x="2618136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1288218"/>
                  </a:lnTo>
                  <a:cubicBezTo>
                    <a:pt x="0" y="1386344"/>
                    <a:pt x="79547" y="1465891"/>
                    <a:pt x="177673" y="1465891"/>
                  </a:cubicBezTo>
                  <a:lnTo>
                    <a:pt x="2927906" y="1465891"/>
                  </a:lnTo>
                  <a:cubicBezTo>
                    <a:pt x="3026032" y="1465891"/>
                    <a:pt x="3105579" y="1386344"/>
                    <a:pt x="3105579" y="1288218"/>
                  </a:cubicBezTo>
                  <a:lnTo>
                    <a:pt x="3105579" y="523958"/>
                  </a:lnTo>
                  <a:cubicBezTo>
                    <a:pt x="3105579" y="480251"/>
                    <a:pt x="3089469" y="438079"/>
                    <a:pt x="3060330" y="405503"/>
                  </a:cubicBezTo>
                  <a:lnTo>
                    <a:pt x="2750553" y="59214"/>
                  </a:lnTo>
                  <a:cubicBezTo>
                    <a:pt x="2716849" y="21536"/>
                    <a:pt x="2668689" y="0"/>
                    <a:pt x="2618136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9319" r="0" b="-931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66750" y="666750"/>
            <a:ext cx="16954500" cy="2686050"/>
            <a:chOff x="0" y="0"/>
            <a:chExt cx="4987154" cy="790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987156" cy="790100"/>
            </a:xfrm>
            <a:custGeom>
              <a:avLst/>
              <a:gdLst/>
              <a:ahLst/>
              <a:cxnLst/>
              <a:rect r="r" b="b" t="t" l="l"/>
              <a:pathLst>
                <a:path h="790100" w="4987156">
                  <a:moveTo>
                    <a:pt x="464019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10707"/>
                  </a:lnTo>
                  <a:cubicBezTo>
                    <a:pt x="0" y="547218"/>
                    <a:pt x="13458" y="582448"/>
                    <a:pt x="37800" y="609659"/>
                  </a:cubicBezTo>
                  <a:lnTo>
                    <a:pt x="154967" y="740636"/>
                  </a:lnTo>
                  <a:cubicBezTo>
                    <a:pt x="183122" y="772111"/>
                    <a:pt x="223353" y="790101"/>
                    <a:pt x="265584" y="790100"/>
                  </a:cubicBezTo>
                  <a:lnTo>
                    <a:pt x="4838740" y="790100"/>
                  </a:lnTo>
                  <a:cubicBezTo>
                    <a:pt x="4878102" y="790100"/>
                    <a:pt x="4915853" y="774464"/>
                    <a:pt x="4943686" y="746630"/>
                  </a:cubicBezTo>
                  <a:cubicBezTo>
                    <a:pt x="4971519" y="718797"/>
                    <a:pt x="4987156" y="681047"/>
                    <a:pt x="4987156" y="641685"/>
                  </a:cubicBezTo>
                  <a:lnTo>
                    <a:pt x="4987156" y="366141"/>
                  </a:lnTo>
                  <a:cubicBezTo>
                    <a:pt x="4987156" y="329143"/>
                    <a:pt x="4973337" y="293478"/>
                    <a:pt x="4948407" y="266140"/>
                  </a:cubicBezTo>
                  <a:lnTo>
                    <a:pt x="4749864" y="48414"/>
                  </a:lnTo>
                  <a:cubicBezTo>
                    <a:pt x="4721742" y="17574"/>
                    <a:pt x="4681934" y="0"/>
                    <a:pt x="4640197" y="0"/>
                  </a:cubicBezTo>
                  <a:close/>
                </a:path>
              </a:pathLst>
            </a:custGeom>
            <a:solidFill>
              <a:srgbClr val="3772A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028700" y="7899725"/>
            <a:ext cx="6524625" cy="1252781"/>
            <a:chOff x="0" y="0"/>
            <a:chExt cx="8699500" cy="1670375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19050"/>
              <a:ext cx="8698028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165">
                  <a:solidFill>
                    <a:srgbClr val="3772A4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Basis-User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762960"/>
              <a:ext cx="8699500" cy="9074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3393" indent="-226697" lvl="1">
                <a:lnSpc>
                  <a:spcPts val="2730"/>
                </a:lnSpc>
                <a:buFont typeface="Arial"/>
                <a:buChar char="•"/>
              </a:pPr>
              <a:r>
                <a:rPr lang="en-US" sz="2100" spc="-115">
                  <a:solidFill>
                    <a:srgbClr val="3772A4"/>
                  </a:solidFill>
                  <a:latin typeface="Work Sans"/>
                  <a:ea typeface="Work Sans"/>
                  <a:cs typeface="Work Sans"/>
                  <a:sym typeface="Work Sans"/>
                </a:rPr>
                <a:t>Diversifizierte Usergruppe</a:t>
              </a:r>
            </a:p>
            <a:p>
              <a:pPr algn="l" marL="453393" indent="-226697" lvl="1">
                <a:lnSpc>
                  <a:spcPts val="2730"/>
                </a:lnSpc>
                <a:buFont typeface="Arial"/>
                <a:buChar char="•"/>
              </a:pPr>
              <a:r>
                <a:rPr lang="en-US" sz="2100" spc="-115">
                  <a:solidFill>
                    <a:srgbClr val="3772A4"/>
                  </a:solidFill>
                  <a:latin typeface="Work Sans"/>
                  <a:ea typeface="Work Sans"/>
                  <a:cs typeface="Work Sans"/>
                  <a:sym typeface="Work Sans"/>
                </a:rPr>
                <a:t>Rabatt-Nutzer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251615" y="8512826"/>
            <a:ext cx="411659" cy="411659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3772A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174625"/>
              <a:ext cx="711200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233488" y="1641475"/>
            <a:ext cx="12639675" cy="898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49"/>
              </a:lnSpc>
              <a:spcBef>
                <a:spcPct val="0"/>
              </a:spcBef>
            </a:pPr>
            <a:r>
              <a:rPr lang="en-US" b="true" sz="6999" spc="-384">
                <a:solidFill>
                  <a:srgbClr val="E4E7EB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Nutzergruppen 5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730005" y="3983709"/>
            <a:ext cx="6523521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3000" spc="-165">
                <a:solidFill>
                  <a:srgbClr val="3772A4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Beispiel-User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730005" y="4798695"/>
            <a:ext cx="2866228" cy="4802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3" indent="-226697" lvl="1">
              <a:lnSpc>
                <a:spcPts val="2730"/>
              </a:lnSpc>
              <a:buFont typeface="Arial"/>
              <a:buChar char="•"/>
            </a:pPr>
            <a:r>
              <a:rPr lang="en-US" sz="2100" spc="-115">
                <a:solidFill>
                  <a:srgbClr val="3772A4"/>
                </a:solidFill>
                <a:latin typeface="Work Sans"/>
                <a:ea typeface="Work Sans"/>
                <a:cs typeface="Work Sans"/>
                <a:sym typeface="Work Sans"/>
              </a:rPr>
              <a:t>Geschlecht: </a:t>
            </a:r>
          </a:p>
          <a:p>
            <a:pPr algn="l" marL="453393" indent="-226697" lvl="1">
              <a:lnSpc>
                <a:spcPts val="2730"/>
              </a:lnSpc>
              <a:buFont typeface="Arial"/>
              <a:buChar char="•"/>
            </a:pPr>
            <a:r>
              <a:rPr lang="en-US" sz="2100" spc="-115">
                <a:solidFill>
                  <a:srgbClr val="3772A4"/>
                </a:solidFill>
                <a:latin typeface="Work Sans"/>
                <a:ea typeface="Work Sans"/>
                <a:cs typeface="Work Sans"/>
                <a:sym typeface="Work Sans"/>
              </a:rPr>
              <a:t>Alter: </a:t>
            </a:r>
          </a:p>
          <a:p>
            <a:pPr algn="l" marL="453393" indent="-226697" lvl="1">
              <a:lnSpc>
                <a:spcPts val="2730"/>
              </a:lnSpc>
              <a:buFont typeface="Arial"/>
              <a:buChar char="•"/>
            </a:pPr>
            <a:r>
              <a:rPr lang="en-US" sz="2100" spc="-115">
                <a:solidFill>
                  <a:srgbClr val="3772A4"/>
                </a:solidFill>
                <a:latin typeface="Work Sans"/>
                <a:ea typeface="Work Sans"/>
                <a:cs typeface="Work Sans"/>
                <a:sym typeface="Work Sans"/>
              </a:rPr>
              <a:t>Verheiratet: </a:t>
            </a:r>
          </a:p>
          <a:p>
            <a:pPr algn="l" marL="453393" indent="-226697" lvl="1">
              <a:lnSpc>
                <a:spcPts val="2730"/>
              </a:lnSpc>
              <a:buFont typeface="Arial"/>
              <a:buChar char="•"/>
            </a:pPr>
            <a:r>
              <a:rPr lang="en-US" sz="2100" spc="-115">
                <a:solidFill>
                  <a:srgbClr val="3772A4"/>
                </a:solidFill>
                <a:latin typeface="Work Sans"/>
                <a:ea typeface="Work Sans"/>
                <a:cs typeface="Work Sans"/>
                <a:sym typeface="Work Sans"/>
              </a:rPr>
              <a:t>Kinder: </a:t>
            </a:r>
          </a:p>
          <a:p>
            <a:pPr algn="l" marL="453393" indent="-226697" lvl="1">
              <a:lnSpc>
                <a:spcPts val="2730"/>
              </a:lnSpc>
              <a:buFont typeface="Arial"/>
              <a:buChar char="•"/>
            </a:pPr>
            <a:r>
              <a:rPr lang="en-US" sz="2100" spc="-115">
                <a:solidFill>
                  <a:srgbClr val="3772A4"/>
                </a:solidFill>
                <a:latin typeface="Work Sans"/>
                <a:ea typeface="Work Sans"/>
                <a:cs typeface="Work Sans"/>
                <a:sym typeface="Work Sans"/>
              </a:rPr>
              <a:t>Land: </a:t>
            </a:r>
          </a:p>
          <a:p>
            <a:pPr algn="l" marL="453393" indent="-226697" lvl="1">
              <a:lnSpc>
                <a:spcPts val="2730"/>
              </a:lnSpc>
              <a:buFont typeface="Arial"/>
              <a:buChar char="•"/>
            </a:pPr>
            <a:r>
              <a:rPr lang="en-US" sz="2100" spc="-115">
                <a:solidFill>
                  <a:srgbClr val="3772A4"/>
                </a:solidFill>
                <a:latin typeface="Work Sans"/>
                <a:ea typeface="Work Sans"/>
                <a:cs typeface="Work Sans"/>
                <a:sym typeface="Work Sans"/>
              </a:rPr>
              <a:t>Stadt: </a:t>
            </a:r>
          </a:p>
          <a:p>
            <a:pPr algn="l">
              <a:lnSpc>
                <a:spcPts val="2730"/>
              </a:lnSpc>
            </a:pPr>
          </a:p>
          <a:p>
            <a:pPr algn="l" marL="453393" indent="-226697" lvl="1">
              <a:lnSpc>
                <a:spcPts val="2730"/>
              </a:lnSpc>
              <a:buFont typeface="Arial"/>
              <a:buChar char="•"/>
            </a:pPr>
            <a:r>
              <a:rPr lang="en-US" sz="2100" spc="-115">
                <a:solidFill>
                  <a:srgbClr val="3772A4"/>
                </a:solidFill>
                <a:latin typeface="Work Sans"/>
                <a:ea typeface="Work Sans"/>
                <a:cs typeface="Work Sans"/>
                <a:sym typeface="Work Sans"/>
              </a:rPr>
              <a:t>Reisen: </a:t>
            </a:r>
          </a:p>
          <a:p>
            <a:pPr algn="l" marL="453393" indent="-226697" lvl="1">
              <a:lnSpc>
                <a:spcPts val="2730"/>
              </a:lnSpc>
              <a:buFont typeface="Arial"/>
              <a:buChar char="•"/>
            </a:pPr>
            <a:r>
              <a:rPr lang="en-US" sz="2100" spc="-115">
                <a:solidFill>
                  <a:srgbClr val="3772A4"/>
                </a:solidFill>
                <a:latin typeface="Work Sans"/>
                <a:ea typeface="Work Sans"/>
                <a:cs typeface="Work Sans"/>
                <a:sym typeface="Work Sans"/>
              </a:rPr>
              <a:t>Flugbuchungen:</a:t>
            </a:r>
          </a:p>
          <a:p>
            <a:pPr algn="l" marL="453393" indent="-226697" lvl="1">
              <a:lnSpc>
                <a:spcPts val="2730"/>
              </a:lnSpc>
              <a:buFont typeface="Arial"/>
              <a:buChar char="•"/>
            </a:pPr>
            <a:r>
              <a:rPr lang="en-US" sz="2100" spc="-115">
                <a:solidFill>
                  <a:srgbClr val="3772A4"/>
                </a:solidFill>
                <a:latin typeface="Work Sans"/>
                <a:ea typeface="Work Sans"/>
                <a:cs typeface="Work Sans"/>
                <a:sym typeface="Work Sans"/>
              </a:rPr>
              <a:t>Hotel-Buchungen: </a:t>
            </a:r>
          </a:p>
          <a:p>
            <a:pPr algn="l" marL="453393" indent="-226697" lvl="1">
              <a:lnSpc>
                <a:spcPts val="2730"/>
              </a:lnSpc>
              <a:buFont typeface="Arial"/>
              <a:buChar char="•"/>
            </a:pPr>
            <a:r>
              <a:rPr lang="en-US" sz="2100" spc="-115">
                <a:solidFill>
                  <a:srgbClr val="3772A4"/>
                </a:solidFill>
                <a:latin typeface="Work Sans"/>
                <a:ea typeface="Work Sans"/>
                <a:cs typeface="Work Sans"/>
                <a:sym typeface="Work Sans"/>
              </a:rPr>
              <a:t>Rabatt Flüge: </a:t>
            </a:r>
          </a:p>
          <a:p>
            <a:pPr algn="l" marL="453393" indent="-226697" lvl="1">
              <a:lnSpc>
                <a:spcPts val="2730"/>
              </a:lnSpc>
              <a:buFont typeface="Arial"/>
              <a:buChar char="•"/>
            </a:pPr>
            <a:r>
              <a:rPr lang="en-US" sz="2100" spc="-115">
                <a:solidFill>
                  <a:srgbClr val="3772A4"/>
                </a:solidFill>
                <a:latin typeface="Work Sans"/>
                <a:ea typeface="Work Sans"/>
                <a:cs typeface="Work Sans"/>
                <a:sym typeface="Work Sans"/>
              </a:rPr>
              <a:t>Rabatt Hotels:</a:t>
            </a:r>
          </a:p>
          <a:p>
            <a:pPr algn="l">
              <a:lnSpc>
                <a:spcPts val="2730"/>
              </a:lnSpc>
            </a:pPr>
          </a:p>
          <a:p>
            <a:pPr algn="l" marL="0" indent="0" lvl="0">
              <a:lnSpc>
                <a:spcPts val="2730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6288357" y="8326091"/>
            <a:ext cx="1887100" cy="68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30"/>
              </a:lnSpc>
            </a:pPr>
            <a:r>
              <a:rPr lang="en-US" sz="2100" spc="-115">
                <a:solidFill>
                  <a:srgbClr val="3772A4"/>
                </a:solidFill>
                <a:latin typeface="Work Sans"/>
                <a:ea typeface="Work Sans"/>
                <a:cs typeface="Work Sans"/>
                <a:sym typeface="Work Sans"/>
              </a:rPr>
              <a:t>Exklusive Discounts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224883" y="4798695"/>
            <a:ext cx="3480507" cy="4802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 spc="-115">
                <a:solidFill>
                  <a:srgbClr val="3772A4"/>
                </a:solidFill>
                <a:latin typeface="Work Sans"/>
                <a:ea typeface="Work Sans"/>
                <a:cs typeface="Work Sans"/>
                <a:sym typeface="Work Sans"/>
              </a:rPr>
              <a:t>Weiblich </a:t>
            </a:r>
          </a:p>
          <a:p>
            <a:pPr algn="l">
              <a:lnSpc>
                <a:spcPts val="2730"/>
              </a:lnSpc>
            </a:pPr>
            <a:r>
              <a:rPr lang="en-US" sz="2100" spc="-115">
                <a:solidFill>
                  <a:srgbClr val="3772A4"/>
                </a:solidFill>
                <a:latin typeface="Work Sans"/>
                <a:ea typeface="Work Sans"/>
                <a:cs typeface="Work Sans"/>
                <a:sym typeface="Work Sans"/>
              </a:rPr>
              <a:t>42 Jahre</a:t>
            </a:r>
          </a:p>
          <a:p>
            <a:pPr algn="l">
              <a:lnSpc>
                <a:spcPts val="2730"/>
              </a:lnSpc>
            </a:pPr>
            <a:r>
              <a:rPr lang="en-US" sz="2100" spc="-115">
                <a:solidFill>
                  <a:srgbClr val="3772A4"/>
                </a:solidFill>
                <a:latin typeface="Work Sans"/>
                <a:ea typeface="Work Sans"/>
                <a:cs typeface="Work Sans"/>
                <a:sym typeface="Work Sans"/>
              </a:rPr>
              <a:t>Verheiratet</a:t>
            </a:r>
          </a:p>
          <a:p>
            <a:pPr algn="l">
              <a:lnSpc>
                <a:spcPts val="2730"/>
              </a:lnSpc>
            </a:pPr>
            <a:r>
              <a:rPr lang="en-US" sz="2100" spc="-115">
                <a:solidFill>
                  <a:srgbClr val="3772A4"/>
                </a:solidFill>
                <a:latin typeface="Work Sans"/>
                <a:ea typeface="Work Sans"/>
                <a:cs typeface="Work Sans"/>
                <a:sym typeface="Work Sans"/>
              </a:rPr>
              <a:t>Kinder: Keine Kinder</a:t>
            </a:r>
          </a:p>
          <a:p>
            <a:pPr algn="l">
              <a:lnSpc>
                <a:spcPts val="2730"/>
              </a:lnSpc>
            </a:pPr>
            <a:r>
              <a:rPr lang="en-US" sz="2100" spc="-115">
                <a:solidFill>
                  <a:srgbClr val="3772A4"/>
                </a:solidFill>
                <a:latin typeface="Work Sans"/>
                <a:ea typeface="Work Sans"/>
                <a:cs typeface="Work Sans"/>
                <a:sym typeface="Work Sans"/>
              </a:rPr>
              <a:t>USA</a:t>
            </a:r>
          </a:p>
          <a:p>
            <a:pPr algn="l">
              <a:lnSpc>
                <a:spcPts val="2730"/>
              </a:lnSpc>
            </a:pPr>
            <a:r>
              <a:rPr lang="en-US" sz="2100" spc="-115">
                <a:solidFill>
                  <a:srgbClr val="3772A4"/>
                </a:solidFill>
                <a:latin typeface="Work Sans"/>
                <a:ea typeface="Work Sans"/>
                <a:cs typeface="Work Sans"/>
                <a:sym typeface="Work Sans"/>
              </a:rPr>
              <a:t>San Francisco</a:t>
            </a:r>
          </a:p>
          <a:p>
            <a:pPr algn="l">
              <a:lnSpc>
                <a:spcPts val="2730"/>
              </a:lnSpc>
            </a:pPr>
          </a:p>
          <a:p>
            <a:pPr algn="l">
              <a:lnSpc>
                <a:spcPts val="2730"/>
              </a:lnSpc>
            </a:pPr>
            <a:r>
              <a:rPr lang="en-US" sz="2100" spc="-115">
                <a:solidFill>
                  <a:srgbClr val="3772A4"/>
                </a:solidFill>
                <a:latin typeface="Work Sans"/>
                <a:ea typeface="Work Sans"/>
                <a:cs typeface="Work Sans"/>
                <a:sym typeface="Work Sans"/>
              </a:rPr>
              <a:t>4</a:t>
            </a:r>
          </a:p>
          <a:p>
            <a:pPr algn="l">
              <a:lnSpc>
                <a:spcPts val="2730"/>
              </a:lnSpc>
            </a:pPr>
            <a:r>
              <a:rPr lang="en-US" sz="2100" spc="-115">
                <a:solidFill>
                  <a:srgbClr val="3772A4"/>
                </a:solidFill>
                <a:latin typeface="Work Sans"/>
                <a:ea typeface="Work Sans"/>
                <a:cs typeface="Work Sans"/>
                <a:sym typeface="Work Sans"/>
              </a:rPr>
              <a:t>6</a:t>
            </a:r>
          </a:p>
          <a:p>
            <a:pPr algn="l">
              <a:lnSpc>
                <a:spcPts val="2730"/>
              </a:lnSpc>
            </a:pPr>
            <a:r>
              <a:rPr lang="en-US" sz="2100" spc="-115">
                <a:solidFill>
                  <a:srgbClr val="3772A4"/>
                </a:solidFill>
                <a:latin typeface="Work Sans"/>
                <a:ea typeface="Work Sans"/>
                <a:cs typeface="Work Sans"/>
                <a:sym typeface="Work Sans"/>
              </a:rPr>
              <a:t>4</a:t>
            </a:r>
          </a:p>
          <a:p>
            <a:pPr algn="l">
              <a:lnSpc>
                <a:spcPts val="2730"/>
              </a:lnSpc>
            </a:pPr>
            <a:r>
              <a:rPr lang="en-US" sz="2100" spc="-115">
                <a:solidFill>
                  <a:srgbClr val="3772A4"/>
                </a:solidFill>
                <a:latin typeface="Work Sans"/>
                <a:ea typeface="Work Sans"/>
                <a:cs typeface="Work Sans"/>
                <a:sym typeface="Work Sans"/>
              </a:rPr>
              <a:t>3</a:t>
            </a:r>
          </a:p>
          <a:p>
            <a:pPr algn="l">
              <a:lnSpc>
                <a:spcPts val="2730"/>
              </a:lnSpc>
            </a:pPr>
            <a:r>
              <a:rPr lang="en-US" sz="2100" spc="-115">
                <a:solidFill>
                  <a:srgbClr val="3772A4"/>
                </a:solidFill>
                <a:latin typeface="Work Sans"/>
                <a:ea typeface="Work Sans"/>
                <a:cs typeface="Work Sans"/>
                <a:sym typeface="Work Sans"/>
              </a:rPr>
              <a:t>2</a:t>
            </a:r>
          </a:p>
          <a:p>
            <a:pPr algn="l">
              <a:lnSpc>
                <a:spcPts val="2730"/>
              </a:lnSpc>
            </a:pPr>
          </a:p>
          <a:p>
            <a:pPr algn="l" marL="0" indent="0" lvl="0">
              <a:lnSpc>
                <a:spcPts val="273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9831" y="666750"/>
            <a:ext cx="9767086" cy="8953500"/>
            <a:chOff x="0" y="0"/>
            <a:chExt cx="2872981" cy="26336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72984" cy="2633665"/>
            </a:xfrm>
            <a:custGeom>
              <a:avLst/>
              <a:gdLst/>
              <a:ahLst/>
              <a:cxnLst/>
              <a:rect r="r" b="b" t="t" l="l"/>
              <a:pathLst>
                <a:path h="2633665" w="2872984">
                  <a:moveTo>
                    <a:pt x="2526025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2354273"/>
                  </a:lnTo>
                  <a:cubicBezTo>
                    <a:pt x="0" y="2390784"/>
                    <a:pt x="13458" y="2426013"/>
                    <a:pt x="37800" y="2453225"/>
                  </a:cubicBezTo>
                  <a:lnTo>
                    <a:pt x="154967" y="2584201"/>
                  </a:lnTo>
                  <a:cubicBezTo>
                    <a:pt x="183122" y="2615677"/>
                    <a:pt x="223353" y="2633666"/>
                    <a:pt x="265584" y="2633665"/>
                  </a:cubicBezTo>
                  <a:lnTo>
                    <a:pt x="2724568" y="2633665"/>
                  </a:lnTo>
                  <a:cubicBezTo>
                    <a:pt x="2763930" y="2633666"/>
                    <a:pt x="2801680" y="2618029"/>
                    <a:pt x="2829514" y="2590196"/>
                  </a:cubicBezTo>
                  <a:cubicBezTo>
                    <a:pt x="2857347" y="2562363"/>
                    <a:pt x="2872984" y="2524613"/>
                    <a:pt x="2872984" y="2485251"/>
                  </a:cubicBezTo>
                  <a:lnTo>
                    <a:pt x="2872984" y="366141"/>
                  </a:lnTo>
                  <a:cubicBezTo>
                    <a:pt x="2872984" y="329143"/>
                    <a:pt x="2859165" y="293478"/>
                    <a:pt x="2834235" y="266140"/>
                  </a:cubicBezTo>
                  <a:lnTo>
                    <a:pt x="2635692" y="48414"/>
                  </a:lnTo>
                  <a:cubicBezTo>
                    <a:pt x="2607569" y="17574"/>
                    <a:pt x="2567761" y="0"/>
                    <a:pt x="2526025" y="0"/>
                  </a:cubicBezTo>
                  <a:close/>
                </a:path>
              </a:pathLst>
            </a:custGeom>
            <a:solidFill>
              <a:srgbClr val="0A254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312677" y="552024"/>
            <a:ext cx="7183598" cy="9068226"/>
            <a:chOff x="0" y="0"/>
            <a:chExt cx="1891976" cy="238833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91976" cy="2388339"/>
            </a:xfrm>
            <a:custGeom>
              <a:avLst/>
              <a:gdLst/>
              <a:ahLst/>
              <a:cxnLst/>
              <a:rect r="r" b="b" t="t" l="l"/>
              <a:pathLst>
                <a:path h="2388339" w="1891976">
                  <a:moveTo>
                    <a:pt x="59275" y="0"/>
                  </a:moveTo>
                  <a:lnTo>
                    <a:pt x="1832702" y="0"/>
                  </a:lnTo>
                  <a:cubicBezTo>
                    <a:pt x="1865438" y="0"/>
                    <a:pt x="1891976" y="26538"/>
                    <a:pt x="1891976" y="59275"/>
                  </a:cubicBezTo>
                  <a:lnTo>
                    <a:pt x="1891976" y="2329065"/>
                  </a:lnTo>
                  <a:cubicBezTo>
                    <a:pt x="1891976" y="2361801"/>
                    <a:pt x="1865438" y="2388339"/>
                    <a:pt x="1832702" y="2388339"/>
                  </a:cubicBezTo>
                  <a:lnTo>
                    <a:pt x="59275" y="2388339"/>
                  </a:lnTo>
                  <a:cubicBezTo>
                    <a:pt x="26538" y="2388339"/>
                    <a:pt x="0" y="2361801"/>
                    <a:pt x="0" y="2329065"/>
                  </a:cubicBezTo>
                  <a:lnTo>
                    <a:pt x="0" y="59275"/>
                  </a:lnTo>
                  <a:cubicBezTo>
                    <a:pt x="0" y="26538"/>
                    <a:pt x="26538" y="0"/>
                    <a:pt x="59275" y="0"/>
                  </a:cubicBezTo>
                  <a:close/>
                </a:path>
              </a:pathLst>
            </a:custGeom>
            <a:solidFill>
              <a:srgbClr val="243B57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891976" cy="2445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957615" y="-107998"/>
            <a:ext cx="7635827" cy="10105151"/>
          </a:xfrm>
          <a:prstGeom prst="rect">
            <a:avLst/>
          </a:prstGeom>
        </p:spPr>
      </p:pic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209831" y="2254526"/>
          <a:ext cx="9251547" cy="6435346"/>
        </p:xfrm>
        <a:graphic>
          <a:graphicData uri="http://schemas.openxmlformats.org/drawingml/2006/table">
            <a:tbl>
              <a:tblPr/>
              <a:tblGrid>
                <a:gridCol w="1514375"/>
                <a:gridCol w="4696946"/>
                <a:gridCol w="3040226"/>
              </a:tblGrid>
              <a:tr h="124245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Cluster</a:t>
                      </a:r>
                      <a:endParaRPr lang="en-US" sz="1100"/>
                    </a:p>
                  </a:txBody>
                  <a:tcPr marL="190500" marR="190500" marT="190500" marB="190500" anchor="t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Was ist falsch gelaufen?</a:t>
                      </a:r>
                      <a:endParaRPr lang="en-US" sz="1100"/>
                    </a:p>
                  </a:txBody>
                  <a:tcPr marL="190500" marR="190500" marT="190500" marB="190500" anchor="t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Grobe Größenordnung</a:t>
                      </a:r>
                      <a:endParaRPr lang="en-US" sz="1100"/>
                    </a:p>
                  </a:txBody>
                  <a:tcPr marL="190500" marR="190500" marT="190500" marB="190500" anchor="t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2475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0</a:t>
                      </a:r>
                      <a:endParaRPr lang="en-US" sz="1100"/>
                    </a:p>
                  </a:txBody>
                  <a:tcPr marL="190500" marR="190500" marT="190500" marB="190500" anchor="t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453393" indent="-226697" lvl="1">
                        <a:lnSpc>
                          <a:spcPts val="294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Taggleich</a:t>
                      </a:r>
                      <a:endParaRPr lang="en-US" sz="1100"/>
                    </a:p>
                    <a:p>
                      <a:pPr algn="l" marL="453393" indent="-226697" lvl="1">
                        <a:lnSpc>
                          <a:spcPts val="2940"/>
                        </a:lnSpc>
                        <a:buFont typeface="Arial"/>
                        <a:buChar char="•"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1 Übernachtung unter 24 Std</a:t>
                      </a:r>
                    </a:p>
                  </a:txBody>
                  <a:tcPr marL="190500" marR="190500" marT="190500" marB="190500" anchor="t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ca. 92% der Fälle</a:t>
                      </a:r>
                      <a:endParaRPr lang="en-US" sz="1100"/>
                    </a:p>
                  </a:txBody>
                  <a:tcPr marL="190500" marR="190500" marT="190500" marB="190500" anchor="t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7036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-1</a:t>
                      </a:r>
                      <a:endParaRPr lang="en-US" sz="1100"/>
                    </a:p>
                  </a:txBody>
                  <a:tcPr marL="190500" marR="190500" marT="190500" marB="190500" anchor="t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453393" indent="-226697" lvl="1">
                        <a:lnSpc>
                          <a:spcPts val="294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Taggleich</a:t>
                      </a:r>
                      <a:endParaRPr lang="en-US" sz="1100"/>
                    </a:p>
                    <a:p>
                      <a:pPr algn="l" marL="453393" indent="-226697" lvl="1">
                        <a:lnSpc>
                          <a:spcPts val="2940"/>
                        </a:lnSpc>
                        <a:buFont typeface="Arial"/>
                        <a:buChar char="•"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Datumsfehler</a:t>
                      </a:r>
                    </a:p>
                    <a:p>
                      <a:pPr algn="l" marL="906786" indent="-302262" lvl="2">
                        <a:lnSpc>
                          <a:spcPts val="2940"/>
                        </a:lnSpc>
                        <a:buFont typeface="Arial"/>
                        <a:buChar char="⚬"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Check_out vor Check_in</a:t>
                      </a:r>
                    </a:p>
                  </a:txBody>
                  <a:tcPr marL="190500" marR="190500" marT="190500" marB="190500" anchor="t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ca. 8% der Fälle</a:t>
                      </a:r>
                      <a:endParaRPr lang="en-US" sz="1100"/>
                    </a:p>
                  </a:txBody>
                  <a:tcPr marL="190500" marR="190500" marT="190500" marB="190500" anchor="t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977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-2</a:t>
                      </a:r>
                      <a:endParaRPr lang="en-US" sz="1100"/>
                    </a:p>
                  </a:txBody>
                  <a:tcPr marL="190500" marR="190500" marT="190500" marB="190500" anchor="t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453393" indent="-226697" lvl="1">
                        <a:lnSpc>
                          <a:spcPts val="294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Datumsfehler</a:t>
                      </a:r>
                      <a:endParaRPr lang="en-US" sz="1100"/>
                    </a:p>
                    <a:p>
                      <a:pPr algn="l" marL="906786" indent="-302262" lvl="2">
                        <a:lnSpc>
                          <a:spcPts val="2940"/>
                        </a:lnSpc>
                        <a:buFont typeface="Arial"/>
                        <a:buChar char="⚬"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Check-out vor Check-in</a:t>
                      </a:r>
                    </a:p>
                    <a:p>
                      <a:pPr algn="l">
                        <a:lnSpc>
                          <a:spcPts val="2940"/>
                        </a:lnSpc>
                      </a:pPr>
                    </a:p>
                  </a:txBody>
                  <a:tcPr marL="190500" marR="190500" marT="190500" marB="190500" anchor="t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ca. 0,1% der Fälle</a:t>
                      </a:r>
                      <a:endParaRPr lang="en-US" sz="1100"/>
                    </a:p>
                  </a:txBody>
                  <a:tcPr marL="190500" marR="190500" marT="190500" marB="190500" anchor="t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2676784" y="949314"/>
            <a:ext cx="17169212" cy="937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12"/>
              </a:lnSpc>
            </a:pPr>
            <a:r>
              <a:rPr lang="en-US" b="true" sz="6912" spc="-380">
                <a:solidFill>
                  <a:srgbClr val="E4E7EB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Nächte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75254"/>
            <a:ext cx="16954500" cy="2677546"/>
            <a:chOff x="0" y="0"/>
            <a:chExt cx="4987154" cy="7875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87156" cy="787598"/>
            </a:xfrm>
            <a:custGeom>
              <a:avLst/>
              <a:gdLst/>
              <a:ahLst/>
              <a:cxnLst/>
              <a:rect r="r" b="b" t="t" l="l"/>
              <a:pathLst>
                <a:path h="787598" w="4987156">
                  <a:moveTo>
                    <a:pt x="464019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08206"/>
                  </a:lnTo>
                  <a:cubicBezTo>
                    <a:pt x="0" y="544716"/>
                    <a:pt x="13458" y="579946"/>
                    <a:pt x="37800" y="607158"/>
                  </a:cubicBezTo>
                  <a:lnTo>
                    <a:pt x="154967" y="738134"/>
                  </a:lnTo>
                  <a:cubicBezTo>
                    <a:pt x="183122" y="769609"/>
                    <a:pt x="223353" y="787599"/>
                    <a:pt x="265584" y="787598"/>
                  </a:cubicBezTo>
                  <a:lnTo>
                    <a:pt x="4838740" y="787598"/>
                  </a:lnTo>
                  <a:cubicBezTo>
                    <a:pt x="4878102" y="787598"/>
                    <a:pt x="4915853" y="771962"/>
                    <a:pt x="4943686" y="744129"/>
                  </a:cubicBezTo>
                  <a:cubicBezTo>
                    <a:pt x="4971519" y="716296"/>
                    <a:pt x="4987156" y="678546"/>
                    <a:pt x="4987156" y="639183"/>
                  </a:cubicBezTo>
                  <a:lnTo>
                    <a:pt x="4987156" y="366141"/>
                  </a:lnTo>
                  <a:cubicBezTo>
                    <a:pt x="4987156" y="329143"/>
                    <a:pt x="4973337" y="293478"/>
                    <a:pt x="4948407" y="266140"/>
                  </a:cubicBezTo>
                  <a:lnTo>
                    <a:pt x="4749864" y="48414"/>
                  </a:lnTo>
                  <a:cubicBezTo>
                    <a:pt x="4721742" y="17574"/>
                    <a:pt x="4681934" y="0"/>
                    <a:pt x="4640197" y="0"/>
                  </a:cubicBezTo>
                  <a:close/>
                </a:path>
              </a:pathLst>
            </a:custGeom>
            <a:solidFill>
              <a:srgbClr val="3772A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2105025" y="1641475"/>
            <a:ext cx="14077950" cy="898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49"/>
              </a:lnSpc>
            </a:pPr>
            <a:r>
              <a:rPr lang="en-US" b="true" sz="6999" spc="-384">
                <a:solidFill>
                  <a:srgbClr val="E4E7EB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Nächte - Beispiele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66750" y="3843603"/>
            <a:ext cx="16954500" cy="5962650"/>
            <a:chOff x="0" y="0"/>
            <a:chExt cx="4465383" cy="15704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65383" cy="1570410"/>
            </a:xfrm>
            <a:custGeom>
              <a:avLst/>
              <a:gdLst/>
              <a:ahLst/>
              <a:cxnLst/>
              <a:rect r="r" b="b" t="t" l="l"/>
              <a:pathLst>
                <a:path h="1570410" w="4465383">
                  <a:moveTo>
                    <a:pt x="18265" y="0"/>
                  </a:moveTo>
                  <a:lnTo>
                    <a:pt x="4447118" y="0"/>
                  </a:lnTo>
                  <a:cubicBezTo>
                    <a:pt x="4457205" y="0"/>
                    <a:pt x="4465383" y="8178"/>
                    <a:pt x="4465383" y="18265"/>
                  </a:cubicBezTo>
                  <a:lnTo>
                    <a:pt x="4465383" y="1552145"/>
                  </a:lnTo>
                  <a:cubicBezTo>
                    <a:pt x="4465383" y="1562232"/>
                    <a:pt x="4457205" y="1570410"/>
                    <a:pt x="4447118" y="1570410"/>
                  </a:cubicBezTo>
                  <a:lnTo>
                    <a:pt x="18265" y="1570410"/>
                  </a:lnTo>
                  <a:cubicBezTo>
                    <a:pt x="8178" y="1570410"/>
                    <a:pt x="0" y="1562232"/>
                    <a:pt x="0" y="1552145"/>
                  </a:cubicBezTo>
                  <a:lnTo>
                    <a:pt x="0" y="18265"/>
                  </a:lnTo>
                  <a:cubicBezTo>
                    <a:pt x="0" y="8178"/>
                    <a:pt x="8178" y="0"/>
                    <a:pt x="18265" y="0"/>
                  </a:cubicBezTo>
                  <a:close/>
                </a:path>
              </a:pathLst>
            </a:custGeom>
            <a:solidFill>
              <a:srgbClr val="E4E7E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465383" cy="16275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761850" y="4546126"/>
            <a:ext cx="4270500" cy="2174027"/>
            <a:chOff x="0" y="0"/>
            <a:chExt cx="5694000" cy="2898703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67402"/>
              <a:ext cx="431800" cy="388803"/>
              <a:chOff x="0" y="0"/>
              <a:chExt cx="6350000" cy="5717691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350000" cy="5717691"/>
              </a:xfrm>
              <a:custGeom>
                <a:avLst/>
                <a:gdLst/>
                <a:ahLst/>
                <a:cxnLst/>
                <a:rect r="r" b="b" t="t" l="l"/>
                <a:pathLst>
                  <a:path h="5717691" w="6350000">
                    <a:moveTo>
                      <a:pt x="3175000" y="0"/>
                    </a:moveTo>
                    <a:cubicBezTo>
                      <a:pt x="1421496" y="0"/>
                      <a:pt x="0" y="1279949"/>
                      <a:pt x="0" y="2858846"/>
                    </a:cubicBezTo>
                    <a:cubicBezTo>
                      <a:pt x="0" y="4437743"/>
                      <a:pt x="1421496" y="5717691"/>
                      <a:pt x="3175000" y="5717691"/>
                    </a:cubicBezTo>
                    <a:cubicBezTo>
                      <a:pt x="4928504" y="5717691"/>
                      <a:pt x="6350000" y="4437743"/>
                      <a:pt x="6350000" y="2858846"/>
                    </a:cubicBezTo>
                    <a:cubicBezTo>
                      <a:pt x="6350000" y="1279949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2F5F98"/>
              </a:solidFill>
            </p:spPr>
          </p:sp>
        </p:grpSp>
        <p:sp>
          <p:nvSpPr>
            <p:cNvPr name="TextBox 11" id="11"/>
            <p:cNvSpPr txBox="true"/>
            <p:nvPr/>
          </p:nvSpPr>
          <p:spPr>
            <a:xfrm rot="0">
              <a:off x="774700" y="-19050"/>
              <a:ext cx="2463464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165">
                  <a:solidFill>
                    <a:srgbClr val="3772A4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Cluster: -2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076888"/>
              <a:ext cx="2574724" cy="1821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0"/>
                </a:lnSpc>
              </a:pPr>
              <a:r>
                <a:rPr lang="en-US" sz="2100" spc="-115" b="true">
                  <a:solidFill>
                    <a:srgbClr val="3772A4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Übernachtung:</a:t>
              </a:r>
            </a:p>
            <a:p>
              <a:pPr algn="l" marL="453393" indent="-226697" lvl="1">
                <a:lnSpc>
                  <a:spcPts val="2730"/>
                </a:lnSpc>
                <a:buFont typeface="Arial"/>
                <a:buChar char="•"/>
              </a:pPr>
              <a:r>
                <a:rPr lang="en-US" sz="2100" spc="-115">
                  <a:solidFill>
                    <a:srgbClr val="3772A4"/>
                  </a:solidFill>
                  <a:latin typeface="Work Sans"/>
                  <a:ea typeface="Work Sans"/>
                  <a:cs typeface="Work Sans"/>
                  <a:sym typeface="Work Sans"/>
                </a:rPr>
                <a:t>Nights:</a:t>
              </a:r>
            </a:p>
            <a:p>
              <a:pPr algn="l" marL="453393" indent="-226697" lvl="1">
                <a:lnSpc>
                  <a:spcPts val="2730"/>
                </a:lnSpc>
                <a:buFont typeface="Arial"/>
                <a:buChar char="•"/>
              </a:pPr>
              <a:r>
                <a:rPr lang="en-US" sz="2100" spc="-115">
                  <a:solidFill>
                    <a:srgbClr val="3772A4"/>
                  </a:solidFill>
                  <a:latin typeface="Work Sans"/>
                  <a:ea typeface="Work Sans"/>
                  <a:cs typeface="Work Sans"/>
                  <a:sym typeface="Work Sans"/>
                </a:rPr>
                <a:t>Check_in:</a:t>
              </a:r>
            </a:p>
            <a:p>
              <a:pPr algn="l" marL="453393" indent="-226697" lvl="1">
                <a:lnSpc>
                  <a:spcPts val="2730"/>
                </a:lnSpc>
                <a:buFont typeface="Arial"/>
                <a:buChar char="•"/>
              </a:pPr>
              <a:r>
                <a:rPr lang="en-US" sz="2100" spc="-115">
                  <a:solidFill>
                    <a:srgbClr val="3772A4"/>
                  </a:solidFill>
                  <a:latin typeface="Work Sans"/>
                  <a:ea typeface="Work Sans"/>
                  <a:cs typeface="Work Sans"/>
                  <a:sym typeface="Work Sans"/>
                </a:rPr>
                <a:t>Check_out: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2796798" y="1076888"/>
              <a:ext cx="2897202" cy="1821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0"/>
                </a:lnSpc>
              </a:pPr>
            </a:p>
            <a:p>
              <a:pPr algn="l">
                <a:lnSpc>
                  <a:spcPts val="2730"/>
                </a:lnSpc>
              </a:pPr>
              <a:r>
                <a:rPr lang="en-US" sz="2100" spc="-115">
                  <a:solidFill>
                    <a:srgbClr val="3772A4"/>
                  </a:solidFill>
                  <a:latin typeface="Work Sans"/>
                  <a:ea typeface="Work Sans"/>
                  <a:cs typeface="Work Sans"/>
                  <a:sym typeface="Work Sans"/>
                </a:rPr>
                <a:t>-2</a:t>
              </a:r>
            </a:p>
            <a:p>
              <a:pPr algn="l">
                <a:lnSpc>
                  <a:spcPts val="2730"/>
                </a:lnSpc>
              </a:pPr>
              <a:r>
                <a:rPr lang="en-US" sz="2100" spc="-115">
                  <a:solidFill>
                    <a:srgbClr val="3772A4"/>
                  </a:solidFill>
                  <a:latin typeface="Work Sans"/>
                  <a:ea typeface="Work Sans"/>
                  <a:cs typeface="Work Sans"/>
                  <a:sym typeface="Work Sans"/>
                </a:rPr>
                <a:t>2023-04-16 20:06</a:t>
              </a:r>
            </a:p>
            <a:p>
              <a:pPr algn="l" marL="0" indent="0" lvl="0">
                <a:lnSpc>
                  <a:spcPts val="2730"/>
                </a:lnSpc>
              </a:pPr>
              <a:r>
                <a:rPr lang="en-US" sz="2100" spc="-115">
                  <a:solidFill>
                    <a:srgbClr val="3772A4"/>
                  </a:solidFill>
                  <a:latin typeface="Work Sans"/>
                  <a:ea typeface="Work Sans"/>
                  <a:cs typeface="Work Sans"/>
                  <a:sym typeface="Work Sans"/>
                </a:rPr>
                <a:t>2023-04-15 11:00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008750" y="4546126"/>
            <a:ext cx="4270500" cy="4105302"/>
            <a:chOff x="0" y="0"/>
            <a:chExt cx="5694000" cy="5473736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67402"/>
              <a:ext cx="431800" cy="388803"/>
              <a:chOff x="0" y="0"/>
              <a:chExt cx="6350000" cy="571769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6350000" cy="5717691"/>
              </a:xfrm>
              <a:custGeom>
                <a:avLst/>
                <a:gdLst/>
                <a:ahLst/>
                <a:cxnLst/>
                <a:rect r="r" b="b" t="t" l="l"/>
                <a:pathLst>
                  <a:path h="5717691" w="6350000">
                    <a:moveTo>
                      <a:pt x="3175000" y="0"/>
                    </a:moveTo>
                    <a:cubicBezTo>
                      <a:pt x="1421496" y="0"/>
                      <a:pt x="0" y="1279949"/>
                      <a:pt x="0" y="2858846"/>
                    </a:cubicBezTo>
                    <a:cubicBezTo>
                      <a:pt x="0" y="4437743"/>
                      <a:pt x="1421496" y="5717691"/>
                      <a:pt x="3175000" y="5717691"/>
                    </a:cubicBezTo>
                    <a:cubicBezTo>
                      <a:pt x="4928504" y="5717691"/>
                      <a:pt x="6350000" y="4437743"/>
                      <a:pt x="6350000" y="2858846"/>
                    </a:cubicBezTo>
                    <a:cubicBezTo>
                      <a:pt x="6350000" y="1279949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2F5F98"/>
              </a:solidFill>
            </p:spPr>
          </p:sp>
        </p:grpSp>
        <p:sp>
          <p:nvSpPr>
            <p:cNvPr name="TextBox 17" id="17"/>
            <p:cNvSpPr txBox="true"/>
            <p:nvPr/>
          </p:nvSpPr>
          <p:spPr>
            <a:xfrm rot="0">
              <a:off x="774700" y="-19050"/>
              <a:ext cx="2463464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165">
                  <a:solidFill>
                    <a:srgbClr val="3772A4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Cluster: -1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076888"/>
              <a:ext cx="2574724" cy="1821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0"/>
                </a:lnSpc>
              </a:pPr>
              <a:r>
                <a:rPr lang="en-US" sz="2100" spc="-115" b="true">
                  <a:solidFill>
                    <a:srgbClr val="3772A4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Taggleich:</a:t>
              </a:r>
            </a:p>
            <a:p>
              <a:pPr algn="l" marL="453393" indent="-226697" lvl="1">
                <a:lnSpc>
                  <a:spcPts val="2730"/>
                </a:lnSpc>
                <a:buFont typeface="Arial"/>
                <a:buChar char="•"/>
              </a:pPr>
              <a:r>
                <a:rPr lang="en-US" sz="2100" spc="-115">
                  <a:solidFill>
                    <a:srgbClr val="3772A4"/>
                  </a:solidFill>
                  <a:latin typeface="Work Sans"/>
                  <a:ea typeface="Work Sans"/>
                  <a:cs typeface="Work Sans"/>
                  <a:sym typeface="Work Sans"/>
                </a:rPr>
                <a:t>Nights</a:t>
              </a:r>
              <a:r>
                <a:rPr lang="en-US" sz="2100" spc="-115">
                  <a:solidFill>
                    <a:srgbClr val="3772A4"/>
                  </a:solidFill>
                  <a:latin typeface="Work Sans"/>
                  <a:ea typeface="Work Sans"/>
                  <a:cs typeface="Work Sans"/>
                  <a:sym typeface="Work Sans"/>
                </a:rPr>
                <a:t>:</a:t>
              </a:r>
            </a:p>
            <a:p>
              <a:pPr algn="l" marL="453393" indent="-226697" lvl="1">
                <a:lnSpc>
                  <a:spcPts val="2730"/>
                </a:lnSpc>
                <a:buFont typeface="Arial"/>
                <a:buChar char="•"/>
              </a:pPr>
              <a:r>
                <a:rPr lang="en-US" sz="2100" spc="-115">
                  <a:solidFill>
                    <a:srgbClr val="3772A4"/>
                  </a:solidFill>
                  <a:latin typeface="Work Sans"/>
                  <a:ea typeface="Work Sans"/>
                  <a:cs typeface="Work Sans"/>
                  <a:sym typeface="Work Sans"/>
                </a:rPr>
                <a:t>Check_in:</a:t>
              </a:r>
            </a:p>
            <a:p>
              <a:pPr algn="l" marL="453393" indent="-226697" lvl="1">
                <a:lnSpc>
                  <a:spcPts val="2730"/>
                </a:lnSpc>
                <a:buFont typeface="Arial"/>
                <a:buChar char="•"/>
              </a:pPr>
              <a:r>
                <a:rPr lang="en-US" sz="2100" spc="-115">
                  <a:solidFill>
                    <a:srgbClr val="3772A4"/>
                  </a:solidFill>
                  <a:latin typeface="Work Sans"/>
                  <a:ea typeface="Work Sans"/>
                  <a:cs typeface="Work Sans"/>
                  <a:sym typeface="Work Sans"/>
                </a:rPr>
                <a:t>Check_out: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2796798" y="1076888"/>
              <a:ext cx="2897202" cy="1821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0"/>
                </a:lnSpc>
              </a:pPr>
            </a:p>
            <a:p>
              <a:pPr algn="l">
                <a:lnSpc>
                  <a:spcPts val="2730"/>
                </a:lnSpc>
              </a:pPr>
              <a:r>
                <a:rPr lang="en-US" sz="2100" spc="-115">
                  <a:solidFill>
                    <a:srgbClr val="3772A4"/>
                  </a:solidFill>
                  <a:latin typeface="Work Sans"/>
                  <a:ea typeface="Work Sans"/>
                  <a:cs typeface="Work Sans"/>
                  <a:sym typeface="Work Sans"/>
                </a:rPr>
                <a:t>-1</a:t>
              </a:r>
            </a:p>
            <a:p>
              <a:pPr algn="l">
                <a:lnSpc>
                  <a:spcPts val="2730"/>
                </a:lnSpc>
              </a:pPr>
              <a:r>
                <a:rPr lang="en-US" sz="2100" spc="-115">
                  <a:solidFill>
                    <a:srgbClr val="3772A4"/>
                  </a:solidFill>
                  <a:latin typeface="Work Sans"/>
                  <a:ea typeface="Work Sans"/>
                  <a:cs typeface="Work Sans"/>
                  <a:sym typeface="Work Sans"/>
                </a:rPr>
                <a:t>2023-07-07 14:11  </a:t>
              </a:r>
            </a:p>
            <a:p>
              <a:pPr algn="l" marL="0" indent="0" lvl="0">
                <a:lnSpc>
                  <a:spcPts val="2730"/>
                </a:lnSpc>
              </a:pPr>
              <a:r>
                <a:rPr lang="en-US" sz="2100" spc="-115">
                  <a:solidFill>
                    <a:srgbClr val="3772A4"/>
                  </a:solidFill>
                  <a:latin typeface="Work Sans"/>
                  <a:ea typeface="Work Sans"/>
                  <a:cs typeface="Work Sans"/>
                  <a:sym typeface="Work Sans"/>
                </a:rPr>
                <a:t>2023-07-07 11:00 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3651921"/>
              <a:ext cx="2574724" cy="1821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0"/>
                </a:lnSpc>
              </a:pPr>
              <a:r>
                <a:rPr lang="en-US" sz="2100" spc="-115" b="true">
                  <a:solidFill>
                    <a:srgbClr val="3772A4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Übernachtung:</a:t>
              </a:r>
            </a:p>
            <a:p>
              <a:pPr algn="l" marL="453393" indent="-226697" lvl="1">
                <a:lnSpc>
                  <a:spcPts val="2730"/>
                </a:lnSpc>
                <a:buFont typeface="Arial"/>
                <a:buChar char="•"/>
              </a:pPr>
              <a:r>
                <a:rPr lang="en-US" sz="2100" spc="-115">
                  <a:solidFill>
                    <a:srgbClr val="3772A4"/>
                  </a:solidFill>
                  <a:latin typeface="Work Sans"/>
                  <a:ea typeface="Work Sans"/>
                  <a:cs typeface="Work Sans"/>
                  <a:sym typeface="Work Sans"/>
                </a:rPr>
                <a:t>Nights:</a:t>
              </a:r>
            </a:p>
            <a:p>
              <a:pPr algn="l" marL="453393" indent="-226697" lvl="1">
                <a:lnSpc>
                  <a:spcPts val="2730"/>
                </a:lnSpc>
                <a:buFont typeface="Arial"/>
                <a:buChar char="•"/>
              </a:pPr>
              <a:r>
                <a:rPr lang="en-US" sz="2100" spc="-115">
                  <a:solidFill>
                    <a:srgbClr val="3772A4"/>
                  </a:solidFill>
                  <a:latin typeface="Work Sans"/>
                  <a:ea typeface="Work Sans"/>
                  <a:cs typeface="Work Sans"/>
                  <a:sym typeface="Work Sans"/>
                </a:rPr>
                <a:t>Check_in:</a:t>
              </a:r>
            </a:p>
            <a:p>
              <a:pPr algn="l" marL="453393" indent="-226697" lvl="1">
                <a:lnSpc>
                  <a:spcPts val="2730"/>
                </a:lnSpc>
                <a:buFont typeface="Arial"/>
                <a:buChar char="•"/>
              </a:pPr>
              <a:r>
                <a:rPr lang="en-US" sz="2100" spc="-115">
                  <a:solidFill>
                    <a:srgbClr val="3772A4"/>
                  </a:solidFill>
                  <a:latin typeface="Work Sans"/>
                  <a:ea typeface="Work Sans"/>
                  <a:cs typeface="Work Sans"/>
                  <a:sym typeface="Work Sans"/>
                </a:rPr>
                <a:t>Check_out: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2796798" y="4109121"/>
              <a:ext cx="2897202" cy="13646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0"/>
                </a:lnSpc>
              </a:pPr>
              <a:r>
                <a:rPr lang="en-US" sz="2100" spc="-115">
                  <a:solidFill>
                    <a:srgbClr val="3772A4"/>
                  </a:solidFill>
                  <a:latin typeface="Work Sans"/>
                  <a:ea typeface="Work Sans"/>
                  <a:cs typeface="Work Sans"/>
                  <a:sym typeface="Work Sans"/>
                </a:rPr>
                <a:t>-1</a:t>
              </a:r>
            </a:p>
            <a:p>
              <a:pPr algn="l">
                <a:lnSpc>
                  <a:spcPts val="2730"/>
                </a:lnSpc>
              </a:pPr>
              <a:r>
                <a:rPr lang="en-US" sz="2100" spc="-115">
                  <a:solidFill>
                    <a:srgbClr val="3772A4"/>
                  </a:solidFill>
                  <a:latin typeface="Work Sans"/>
                  <a:ea typeface="Work Sans"/>
                  <a:cs typeface="Work Sans"/>
                  <a:sym typeface="Work Sans"/>
                </a:rPr>
                <a:t>2023-05-02 10:05</a:t>
              </a:r>
            </a:p>
            <a:p>
              <a:pPr algn="l" marL="0" indent="0" lvl="0">
                <a:lnSpc>
                  <a:spcPts val="2730"/>
                </a:lnSpc>
              </a:pPr>
              <a:r>
                <a:rPr lang="en-US" sz="2100" spc="-115">
                  <a:solidFill>
                    <a:srgbClr val="3772A4"/>
                  </a:solidFill>
                  <a:latin typeface="Work Sans"/>
                  <a:ea typeface="Work Sans"/>
                  <a:cs typeface="Work Sans"/>
                  <a:sym typeface="Work Sans"/>
                </a:rPr>
                <a:t>2023-05-01 11:00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55650" y="4513879"/>
            <a:ext cx="4270500" cy="4137550"/>
            <a:chOff x="0" y="0"/>
            <a:chExt cx="5694000" cy="5516733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110398"/>
              <a:ext cx="431800" cy="388803"/>
              <a:chOff x="0" y="0"/>
              <a:chExt cx="6350000" cy="5717691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6350000" cy="5717691"/>
              </a:xfrm>
              <a:custGeom>
                <a:avLst/>
                <a:gdLst/>
                <a:ahLst/>
                <a:cxnLst/>
                <a:rect r="r" b="b" t="t" l="l"/>
                <a:pathLst>
                  <a:path h="5717691" w="6350000">
                    <a:moveTo>
                      <a:pt x="3175000" y="0"/>
                    </a:moveTo>
                    <a:cubicBezTo>
                      <a:pt x="1421496" y="0"/>
                      <a:pt x="0" y="1279949"/>
                      <a:pt x="0" y="2858846"/>
                    </a:cubicBezTo>
                    <a:cubicBezTo>
                      <a:pt x="0" y="4437743"/>
                      <a:pt x="1421496" y="5717691"/>
                      <a:pt x="3175000" y="5717691"/>
                    </a:cubicBezTo>
                    <a:cubicBezTo>
                      <a:pt x="4928504" y="5717691"/>
                      <a:pt x="6350000" y="4437743"/>
                      <a:pt x="6350000" y="2858846"/>
                    </a:cubicBezTo>
                    <a:cubicBezTo>
                      <a:pt x="6350000" y="1279949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2F5F98"/>
              </a:solidFill>
            </p:spPr>
          </p:sp>
        </p:grpSp>
        <p:sp>
          <p:nvSpPr>
            <p:cNvPr name="TextBox 25" id="25"/>
            <p:cNvSpPr txBox="true"/>
            <p:nvPr/>
          </p:nvSpPr>
          <p:spPr>
            <a:xfrm rot="0">
              <a:off x="0" y="1119885"/>
              <a:ext cx="2574724" cy="1821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0"/>
                </a:lnSpc>
              </a:pPr>
              <a:r>
                <a:rPr lang="en-US" sz="2100" spc="-115" b="true">
                  <a:solidFill>
                    <a:srgbClr val="3772A4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Taggleich:</a:t>
              </a:r>
            </a:p>
            <a:p>
              <a:pPr algn="l" marL="453393" indent="-226697" lvl="1">
                <a:lnSpc>
                  <a:spcPts val="2730"/>
                </a:lnSpc>
                <a:buFont typeface="Arial"/>
                <a:buChar char="•"/>
              </a:pPr>
              <a:r>
                <a:rPr lang="en-US" sz="2100" spc="-115">
                  <a:solidFill>
                    <a:srgbClr val="3772A4"/>
                  </a:solidFill>
                  <a:latin typeface="Work Sans"/>
                  <a:ea typeface="Work Sans"/>
                  <a:cs typeface="Work Sans"/>
                  <a:sym typeface="Work Sans"/>
                </a:rPr>
                <a:t>Nights</a:t>
              </a:r>
              <a:r>
                <a:rPr lang="en-US" sz="2100" spc="-115">
                  <a:solidFill>
                    <a:srgbClr val="3772A4"/>
                  </a:solidFill>
                  <a:latin typeface="Work Sans"/>
                  <a:ea typeface="Work Sans"/>
                  <a:cs typeface="Work Sans"/>
                  <a:sym typeface="Work Sans"/>
                </a:rPr>
                <a:t>:</a:t>
              </a:r>
            </a:p>
            <a:p>
              <a:pPr algn="l" marL="453393" indent="-226697" lvl="1">
                <a:lnSpc>
                  <a:spcPts val="2730"/>
                </a:lnSpc>
                <a:buFont typeface="Arial"/>
                <a:buChar char="•"/>
              </a:pPr>
              <a:r>
                <a:rPr lang="en-US" sz="2100" spc="-115">
                  <a:solidFill>
                    <a:srgbClr val="3772A4"/>
                  </a:solidFill>
                  <a:latin typeface="Work Sans"/>
                  <a:ea typeface="Work Sans"/>
                  <a:cs typeface="Work Sans"/>
                  <a:sym typeface="Work Sans"/>
                </a:rPr>
                <a:t>Check_in:</a:t>
              </a:r>
            </a:p>
            <a:p>
              <a:pPr algn="l" marL="453393" indent="-226697" lvl="1">
                <a:lnSpc>
                  <a:spcPts val="2730"/>
                </a:lnSpc>
                <a:buFont typeface="Arial"/>
                <a:buChar char="•"/>
              </a:pPr>
              <a:r>
                <a:rPr lang="en-US" sz="2100" spc="-115">
                  <a:solidFill>
                    <a:srgbClr val="3772A4"/>
                  </a:solidFill>
                  <a:latin typeface="Work Sans"/>
                  <a:ea typeface="Work Sans"/>
                  <a:cs typeface="Work Sans"/>
                  <a:sym typeface="Work Sans"/>
                </a:rPr>
                <a:t>Check_out: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768375" y="-19050"/>
              <a:ext cx="2463464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165">
                  <a:solidFill>
                    <a:srgbClr val="3772A4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Cluster: 0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2796798" y="1119885"/>
              <a:ext cx="2897202" cy="1821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0"/>
                </a:lnSpc>
              </a:pPr>
            </a:p>
            <a:p>
              <a:pPr algn="l">
                <a:lnSpc>
                  <a:spcPts val="2730"/>
                </a:lnSpc>
              </a:pPr>
              <a:r>
                <a:rPr lang="en-US" sz="2100" spc="-115">
                  <a:solidFill>
                    <a:srgbClr val="3772A4"/>
                  </a:solidFill>
                  <a:latin typeface="Work Sans"/>
                  <a:ea typeface="Work Sans"/>
                  <a:cs typeface="Work Sans"/>
                  <a:sym typeface="Work Sans"/>
                </a:rPr>
                <a:t>0 </a:t>
              </a:r>
            </a:p>
            <a:p>
              <a:pPr algn="l">
                <a:lnSpc>
                  <a:spcPts val="2730"/>
                </a:lnSpc>
              </a:pPr>
              <a:r>
                <a:rPr lang="en-US" sz="2100" spc="-115">
                  <a:solidFill>
                    <a:srgbClr val="3772A4"/>
                  </a:solidFill>
                  <a:latin typeface="Work Sans"/>
                  <a:ea typeface="Work Sans"/>
                  <a:cs typeface="Work Sans"/>
                  <a:sym typeface="Work Sans"/>
                </a:rPr>
                <a:t>2023-02-17 09:40 </a:t>
              </a:r>
            </a:p>
            <a:p>
              <a:pPr algn="l" marL="0" indent="0" lvl="0">
                <a:lnSpc>
                  <a:spcPts val="2730"/>
                </a:lnSpc>
              </a:pPr>
              <a:r>
                <a:rPr lang="en-US" sz="2100" spc="-115">
                  <a:solidFill>
                    <a:srgbClr val="3772A4"/>
                  </a:solidFill>
                  <a:latin typeface="Work Sans"/>
                  <a:ea typeface="Work Sans"/>
                  <a:cs typeface="Work Sans"/>
                  <a:sym typeface="Work Sans"/>
                </a:rPr>
                <a:t>2023-02-17 11:00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0" y="3694918"/>
              <a:ext cx="2574724" cy="1821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0"/>
                </a:lnSpc>
              </a:pPr>
              <a:r>
                <a:rPr lang="en-US" sz="2100" spc="-115" b="true">
                  <a:solidFill>
                    <a:srgbClr val="3772A4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Übernachtung:</a:t>
              </a:r>
            </a:p>
            <a:p>
              <a:pPr algn="l" marL="453393" indent="-226697" lvl="1">
                <a:lnSpc>
                  <a:spcPts val="2730"/>
                </a:lnSpc>
                <a:buFont typeface="Arial"/>
                <a:buChar char="•"/>
              </a:pPr>
              <a:r>
                <a:rPr lang="en-US" sz="2100" spc="-115">
                  <a:solidFill>
                    <a:srgbClr val="3772A4"/>
                  </a:solidFill>
                  <a:latin typeface="Work Sans"/>
                  <a:ea typeface="Work Sans"/>
                  <a:cs typeface="Work Sans"/>
                  <a:sym typeface="Work Sans"/>
                </a:rPr>
                <a:t>Nights:</a:t>
              </a:r>
            </a:p>
            <a:p>
              <a:pPr algn="l" marL="453393" indent="-226697" lvl="1">
                <a:lnSpc>
                  <a:spcPts val="2730"/>
                </a:lnSpc>
                <a:buFont typeface="Arial"/>
                <a:buChar char="•"/>
              </a:pPr>
              <a:r>
                <a:rPr lang="en-US" sz="2100" spc="-115">
                  <a:solidFill>
                    <a:srgbClr val="3772A4"/>
                  </a:solidFill>
                  <a:latin typeface="Work Sans"/>
                  <a:ea typeface="Work Sans"/>
                  <a:cs typeface="Work Sans"/>
                  <a:sym typeface="Work Sans"/>
                </a:rPr>
                <a:t>Check_in:</a:t>
              </a:r>
            </a:p>
            <a:p>
              <a:pPr algn="l" marL="453393" indent="-226697" lvl="1">
                <a:lnSpc>
                  <a:spcPts val="2730"/>
                </a:lnSpc>
                <a:buFont typeface="Arial"/>
                <a:buChar char="•"/>
              </a:pPr>
              <a:r>
                <a:rPr lang="en-US" sz="2100" spc="-115">
                  <a:solidFill>
                    <a:srgbClr val="3772A4"/>
                  </a:solidFill>
                  <a:latin typeface="Work Sans"/>
                  <a:ea typeface="Work Sans"/>
                  <a:cs typeface="Work Sans"/>
                  <a:sym typeface="Work Sans"/>
                </a:rPr>
                <a:t>Check_out: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2796798" y="3694918"/>
              <a:ext cx="2897202" cy="1821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0"/>
                </a:lnSpc>
              </a:pPr>
            </a:p>
            <a:p>
              <a:pPr algn="l">
                <a:lnSpc>
                  <a:spcPts val="2730"/>
                </a:lnSpc>
              </a:pPr>
              <a:r>
                <a:rPr lang="en-US" sz="2100" spc="-115">
                  <a:solidFill>
                    <a:srgbClr val="3772A4"/>
                  </a:solidFill>
                  <a:latin typeface="Work Sans"/>
                  <a:ea typeface="Work Sans"/>
                  <a:cs typeface="Work Sans"/>
                  <a:sym typeface="Work Sans"/>
                </a:rPr>
                <a:t>0</a:t>
              </a:r>
            </a:p>
            <a:p>
              <a:pPr algn="l">
                <a:lnSpc>
                  <a:spcPts val="2730"/>
                </a:lnSpc>
              </a:pPr>
              <a:r>
                <a:rPr lang="en-US" sz="2100" spc="-115">
                  <a:solidFill>
                    <a:srgbClr val="3772A4"/>
                  </a:solidFill>
                  <a:latin typeface="Work Sans"/>
                  <a:ea typeface="Work Sans"/>
                  <a:cs typeface="Work Sans"/>
                  <a:sym typeface="Work Sans"/>
                </a:rPr>
                <a:t>2023-01-26 14:01 </a:t>
              </a:r>
            </a:p>
            <a:p>
              <a:pPr algn="l" marL="0" indent="0" lvl="0">
                <a:lnSpc>
                  <a:spcPts val="2730"/>
                </a:lnSpc>
              </a:pPr>
              <a:r>
                <a:rPr lang="en-US" sz="2100" spc="-115">
                  <a:solidFill>
                    <a:srgbClr val="3772A4"/>
                  </a:solidFill>
                  <a:latin typeface="Work Sans"/>
                  <a:ea typeface="Work Sans"/>
                  <a:cs typeface="Work Sans"/>
                  <a:sym typeface="Work Sans"/>
                </a:rPr>
                <a:t>2023-01-27 11:00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3299803" cy="1742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99803" cy="1742587"/>
            </a:xfrm>
            <a:custGeom>
              <a:avLst/>
              <a:gdLst/>
              <a:ahLst/>
              <a:cxnLst/>
              <a:rect r="r" b="b" t="t" l="l"/>
              <a:pathLst>
                <a:path h="1742587" w="3299803">
                  <a:moveTo>
                    <a:pt x="965120" y="1606277"/>
                  </a:moveTo>
                  <a:cubicBezTo>
                    <a:pt x="983327" y="1585924"/>
                    <a:pt x="1009342" y="1574291"/>
                    <a:pt x="1036650" y="1574291"/>
                  </a:cubicBezTo>
                  <a:lnTo>
                    <a:pt x="3213538" y="1574626"/>
                  </a:lnTo>
                  <a:cubicBezTo>
                    <a:pt x="3236413" y="1574639"/>
                    <a:pt x="3258355" y="1565561"/>
                    <a:pt x="3274534" y="1549390"/>
                  </a:cubicBezTo>
                  <a:cubicBezTo>
                    <a:pt x="3290713" y="1533220"/>
                    <a:pt x="3299803" y="1511283"/>
                    <a:pt x="3299803" y="1488408"/>
                  </a:cubicBezTo>
                  <a:lnTo>
                    <a:pt x="3299803" y="86219"/>
                  </a:lnTo>
                  <a:cubicBezTo>
                    <a:pt x="3299803" y="63352"/>
                    <a:pt x="3290719" y="41422"/>
                    <a:pt x="3274550" y="25253"/>
                  </a:cubicBezTo>
                  <a:cubicBezTo>
                    <a:pt x="3258381" y="9084"/>
                    <a:pt x="3236451" y="0"/>
                    <a:pt x="3213584" y="0"/>
                  </a:cubicBezTo>
                  <a:lnTo>
                    <a:pt x="303022" y="0"/>
                  </a:lnTo>
                  <a:cubicBezTo>
                    <a:pt x="278489" y="-1"/>
                    <a:pt x="255117" y="10450"/>
                    <a:pt x="238760" y="28735"/>
                  </a:cubicBezTo>
                  <a:lnTo>
                    <a:pt x="21960" y="271092"/>
                  </a:lnTo>
                  <a:cubicBezTo>
                    <a:pt x="7818" y="286900"/>
                    <a:pt x="0" y="307366"/>
                    <a:pt x="0" y="328576"/>
                  </a:cubicBezTo>
                  <a:lnTo>
                    <a:pt x="0" y="1656375"/>
                  </a:lnTo>
                  <a:cubicBezTo>
                    <a:pt x="4" y="1703990"/>
                    <a:pt x="38604" y="1742587"/>
                    <a:pt x="86219" y="1742587"/>
                  </a:cubicBezTo>
                  <a:lnTo>
                    <a:pt x="804624" y="1742587"/>
                  </a:lnTo>
                  <a:cubicBezTo>
                    <a:pt x="829157" y="1742588"/>
                    <a:pt x="852529" y="1732137"/>
                    <a:pt x="868886" y="1713853"/>
                  </a:cubicBezTo>
                  <a:lnTo>
                    <a:pt x="965120" y="1606277"/>
                  </a:lnTo>
                  <a:close/>
                </a:path>
              </a:pathLst>
            </a:custGeom>
            <a:solidFill>
              <a:srgbClr val="243B57"/>
            </a:solidFill>
            <a:ln cap="rnd" w="12700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2105025" y="1695450"/>
            <a:ext cx="6886575" cy="93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99"/>
              </a:lnSpc>
            </a:pPr>
            <a:r>
              <a:rPr lang="en-US" b="true" sz="6999" spc="-384" strike="noStrike" u="none">
                <a:solidFill>
                  <a:srgbClr val="E4E7EB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Empfehlungen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312605" y="981075"/>
            <a:ext cx="6946695" cy="7471274"/>
            <a:chOff x="0" y="0"/>
            <a:chExt cx="3482081" cy="37450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54483" y="50038"/>
              <a:ext cx="3372988" cy="3645589"/>
            </a:xfrm>
            <a:custGeom>
              <a:avLst/>
              <a:gdLst/>
              <a:ahLst/>
              <a:cxnLst/>
              <a:rect r="r" b="b" t="t" l="l"/>
              <a:pathLst>
                <a:path h="3645589" w="3372988">
                  <a:moveTo>
                    <a:pt x="3285358" y="3645589"/>
                  </a:moveTo>
                  <a:lnTo>
                    <a:pt x="87757" y="3645589"/>
                  </a:lnTo>
                  <a:cubicBezTo>
                    <a:pt x="39370" y="3645589"/>
                    <a:pt x="0" y="3606346"/>
                    <a:pt x="0" y="3557832"/>
                  </a:cubicBezTo>
                  <a:lnTo>
                    <a:pt x="0" y="87757"/>
                  </a:lnTo>
                  <a:cubicBezTo>
                    <a:pt x="0" y="39370"/>
                    <a:pt x="39243" y="0"/>
                    <a:pt x="87757" y="0"/>
                  </a:cubicBezTo>
                  <a:lnTo>
                    <a:pt x="3285231" y="0"/>
                  </a:lnTo>
                  <a:cubicBezTo>
                    <a:pt x="3333618" y="0"/>
                    <a:pt x="3372988" y="39243"/>
                    <a:pt x="3372988" y="87757"/>
                  </a:cubicBezTo>
                  <a:lnTo>
                    <a:pt x="3372988" y="3557832"/>
                  </a:lnTo>
                  <a:cubicBezTo>
                    <a:pt x="3372988" y="3606219"/>
                    <a:pt x="3333745" y="3645589"/>
                    <a:pt x="3285231" y="3645589"/>
                  </a:cubicBezTo>
                  <a:close/>
                </a:path>
              </a:pathLst>
            </a:custGeom>
            <a:blipFill>
              <a:blip r:embed="rId2"/>
              <a:stretch>
                <a:fillRect l="0" t="-12" r="0" b="-12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81954" cy="3744903"/>
            </a:xfrm>
            <a:custGeom>
              <a:avLst/>
              <a:gdLst/>
              <a:ahLst/>
              <a:cxnLst/>
              <a:rect r="r" b="b" t="t" l="l"/>
              <a:pathLst>
                <a:path h="3744903" w="3481954">
                  <a:moveTo>
                    <a:pt x="0" y="91567"/>
                  </a:moveTo>
                  <a:lnTo>
                    <a:pt x="0" y="3653336"/>
                  </a:lnTo>
                  <a:cubicBezTo>
                    <a:pt x="0" y="3703882"/>
                    <a:pt x="41021" y="3744903"/>
                    <a:pt x="91567" y="3744903"/>
                  </a:cubicBezTo>
                  <a:lnTo>
                    <a:pt x="3390387" y="3744903"/>
                  </a:lnTo>
                  <a:cubicBezTo>
                    <a:pt x="3440933" y="3744903"/>
                    <a:pt x="3481954" y="3703882"/>
                    <a:pt x="3481954" y="3653336"/>
                  </a:cubicBezTo>
                  <a:lnTo>
                    <a:pt x="3481954" y="91567"/>
                  </a:lnTo>
                  <a:cubicBezTo>
                    <a:pt x="3481954" y="41021"/>
                    <a:pt x="3440933" y="0"/>
                    <a:pt x="3390387" y="0"/>
                  </a:cubicBezTo>
                  <a:lnTo>
                    <a:pt x="91567" y="0"/>
                  </a:lnTo>
                  <a:cubicBezTo>
                    <a:pt x="41021" y="0"/>
                    <a:pt x="0" y="41021"/>
                    <a:pt x="0" y="91567"/>
                  </a:cubicBezTo>
                  <a:close/>
                  <a:moveTo>
                    <a:pt x="2640198" y="331724"/>
                  </a:moveTo>
                  <a:lnTo>
                    <a:pt x="3299328" y="331724"/>
                  </a:lnTo>
                  <a:cubicBezTo>
                    <a:pt x="3349874" y="331724"/>
                    <a:pt x="3390895" y="372745"/>
                    <a:pt x="3390895" y="423291"/>
                  </a:cubicBezTo>
                  <a:lnTo>
                    <a:pt x="3390895" y="3562277"/>
                  </a:lnTo>
                  <a:cubicBezTo>
                    <a:pt x="3390895" y="3612823"/>
                    <a:pt x="3349874" y="3653844"/>
                    <a:pt x="3299328" y="3653844"/>
                  </a:cubicBezTo>
                  <a:lnTo>
                    <a:pt x="182753" y="3653844"/>
                  </a:lnTo>
                  <a:cubicBezTo>
                    <a:pt x="132207" y="3653844"/>
                    <a:pt x="91186" y="3612823"/>
                    <a:pt x="91186" y="3562277"/>
                  </a:cubicBezTo>
                  <a:lnTo>
                    <a:pt x="91186" y="182753"/>
                  </a:lnTo>
                  <a:cubicBezTo>
                    <a:pt x="91186" y="132207"/>
                    <a:pt x="132207" y="91186"/>
                    <a:pt x="182753" y="91186"/>
                  </a:cubicBezTo>
                  <a:lnTo>
                    <a:pt x="2343145" y="91186"/>
                  </a:lnTo>
                  <a:cubicBezTo>
                    <a:pt x="2369180" y="91186"/>
                    <a:pt x="2394072" y="102235"/>
                    <a:pt x="2411471" y="121666"/>
                  </a:cubicBezTo>
                  <a:lnTo>
                    <a:pt x="2572126" y="301244"/>
                  </a:lnTo>
                  <a:cubicBezTo>
                    <a:pt x="2589525" y="320675"/>
                    <a:pt x="2614290" y="331724"/>
                    <a:pt x="2640452" y="331724"/>
                  </a:cubicBezTo>
                  <a:lnTo>
                    <a:pt x="2640198" y="331724"/>
                  </a:lnTo>
                  <a:close/>
                </a:path>
              </a:pathLst>
            </a:custGeom>
            <a:solidFill>
              <a:srgbClr val="E4E7EB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909795" y="3013612"/>
            <a:ext cx="6435694" cy="4945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0"/>
              </a:lnSpc>
            </a:pPr>
          </a:p>
          <a:p>
            <a:pPr algn="l" marL="467338" indent="-233669" lvl="1">
              <a:lnSpc>
                <a:spcPts val="3030"/>
              </a:lnSpc>
              <a:buFont typeface="Arial"/>
              <a:buChar char="•"/>
            </a:pPr>
            <a:r>
              <a:rPr lang="en-US" b="true" sz="2164" spc="-119">
                <a:solidFill>
                  <a:srgbClr val="D1D9E6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Fehlerhandling</a:t>
            </a:r>
          </a:p>
          <a:p>
            <a:pPr algn="l">
              <a:lnSpc>
                <a:spcPts val="3030"/>
              </a:lnSpc>
            </a:pPr>
          </a:p>
          <a:p>
            <a:pPr algn="l" marL="467338" indent="-233669" lvl="1">
              <a:lnSpc>
                <a:spcPts val="3030"/>
              </a:lnSpc>
              <a:buFont typeface="Arial"/>
              <a:buChar char="•"/>
            </a:pPr>
            <a:r>
              <a:rPr lang="en-US" b="true" sz="2164" spc="-119">
                <a:solidFill>
                  <a:srgbClr val="D1D9E6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A/B Testing </a:t>
            </a:r>
          </a:p>
          <a:p>
            <a:pPr algn="l">
              <a:lnSpc>
                <a:spcPts val="3030"/>
              </a:lnSpc>
            </a:pPr>
          </a:p>
          <a:p>
            <a:pPr algn="l" marL="467338" indent="-233669" lvl="1">
              <a:lnSpc>
                <a:spcPts val="3030"/>
              </a:lnSpc>
              <a:buFont typeface="Arial"/>
              <a:buChar char="•"/>
            </a:pPr>
            <a:r>
              <a:rPr lang="en-US" b="true" sz="2164" spc="-119">
                <a:solidFill>
                  <a:srgbClr val="D1D9E6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Tracking fortsetzen</a:t>
            </a:r>
          </a:p>
          <a:p>
            <a:pPr algn="l">
              <a:lnSpc>
                <a:spcPts val="3030"/>
              </a:lnSpc>
            </a:pPr>
          </a:p>
          <a:p>
            <a:pPr algn="l" marL="467338" indent="-233669" lvl="1">
              <a:lnSpc>
                <a:spcPts val="3030"/>
              </a:lnSpc>
              <a:buFont typeface="Arial"/>
              <a:buChar char="•"/>
            </a:pPr>
            <a:r>
              <a:rPr lang="en-US" b="true" sz="2164" spc="-119">
                <a:solidFill>
                  <a:srgbClr val="D1D9E6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Evaluation</a:t>
            </a:r>
          </a:p>
          <a:p>
            <a:pPr algn="l">
              <a:lnSpc>
                <a:spcPts val="3030"/>
              </a:lnSpc>
            </a:pPr>
          </a:p>
          <a:p>
            <a:pPr algn="l" marL="467338" indent="-233669" lvl="1">
              <a:lnSpc>
                <a:spcPts val="3030"/>
              </a:lnSpc>
              <a:buFont typeface="Arial"/>
              <a:buChar char="•"/>
            </a:pPr>
            <a:r>
              <a:rPr lang="en-US" b="true" sz="2164" spc="-119">
                <a:solidFill>
                  <a:srgbClr val="D1D9E6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Monitoring Bonusprogramm</a:t>
            </a:r>
          </a:p>
          <a:p>
            <a:pPr algn="l">
              <a:lnSpc>
                <a:spcPts val="3030"/>
              </a:lnSpc>
            </a:pPr>
          </a:p>
          <a:p>
            <a:pPr algn="l" marL="467338" indent="-233669" lvl="1">
              <a:lnSpc>
                <a:spcPts val="3030"/>
              </a:lnSpc>
              <a:buFont typeface="Arial"/>
              <a:buChar char="•"/>
            </a:pPr>
            <a:r>
              <a:rPr lang="en-US" b="true" sz="2164" spc="-119">
                <a:solidFill>
                  <a:srgbClr val="D1D9E6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Kundenneugewinnung (“Surfer”)</a:t>
            </a:r>
          </a:p>
          <a:p>
            <a:pPr algn="l">
              <a:lnSpc>
                <a:spcPts val="3030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TravelTide Rewards</dc:description>
  <dc:identifier>DAG53uUZlaE</dc:identifier>
  <dcterms:modified xsi:type="dcterms:W3CDTF">2011-08-01T06:04:30Z</dcterms:modified>
  <cp:revision>1</cp:revision>
  <dc:title>Presentation - TravelTide Rewards</dc:title>
</cp:coreProperties>
</file>